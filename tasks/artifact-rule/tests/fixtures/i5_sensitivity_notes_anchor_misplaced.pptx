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72" r:id="rId24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four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convention: a sensitivity slide is placed directly after the slide it sensitises, never at the end of the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Schedules are drawn directly from the frozen workbook; no figures are recalculated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Sensitivity of the covenant DSCR to a 20% lower support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1. Executive summary</a:t>
            </a:r>
          </a:p>
          <a:p>
            <a:pPr/>
            <a:r>
              <a:rPr sz="1800"/>
              <a:t>2. Cases</a:t>
            </a:r>
          </a:p>
          <a:p>
            <a:pPr lvl="1"/>
            <a:r>
              <a:rPr sz="1600"/>
              <a:t>Case 1 — Base</a:t>
            </a:r>
          </a:p>
          <a:p>
            <a:pPr lvl="1"/>
            <a:r>
              <a:rPr sz="1600"/>
              <a:t>Case 2 — Delayed usage receipt</a:t>
            </a:r>
          </a:p>
          <a:p>
            <a:pPr lvl="1"/>
            <a:r>
              <a:rPr sz="1600"/>
              <a:t>Case 3 — Major operating incident</a:t>
            </a:r>
          </a:p>
          <a:p>
            <a:pPr/>
            <a:r>
              <a:rPr sz="1800"/>
              <a:t>3. Financing and covenant</a:t>
            </a:r>
          </a:p>
          <a:p>
            <a:pPr/>
            <a:r>
              <a:rPr sz="1800"/>
              <a:t>4. Recommendation</a:t>
            </a:r>
          </a:p>
          <a:p>
            <a:pPr/>
            <a:r>
              <a:rPr sz="1800"/>
              <a:t>5. Closing</a:t>
            </a:r>
          </a:p>
          <a:p>
            <a:pPr/>
            <a:r>
              <a:rPr sz="18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All figures are fictional illustrative outputs of the Northstar Compute model (model_outputs.xlsx).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Each case changes only the fields shown in the Cases tab of the source workbook; prices, service obligations and the financing commitments are 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Sensitivity: DSCR with support cap minus 20%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1.14x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270k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9.3m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'Sensitivity'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