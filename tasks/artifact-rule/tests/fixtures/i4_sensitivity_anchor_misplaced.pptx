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72" r:id="rId24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Investment committee pack for the Northstar Compute GPU infrastructure financing.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briefly. The case list mirrors the order of the case slides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messages. Figures are fictional illustrative model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of the four modelled cases are presented in this version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1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2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3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Financing section: covenant first, then sources and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Covenant mechanics and results. Operating ratio and post-cure ratio are shown separately on the case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and uses on the funding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 to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decisions requested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Schedules are drawn directly from the frozen workbook; no figures are recalculated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DSCR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return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Locked reference slide. Keep it as the last slide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Sensitivity of the covenant DSCR to a 20% lower support 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s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ched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Compute: hardware financing and customer arrangements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committee pack. Fictional illustrative figures.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1. Executive summary</a:t>
            </a:r>
          </a:p>
          <a:p>
            <a:pPr/>
            <a:r>
              <a:rPr sz="1800"/>
              <a:t>2. Cases</a:t>
            </a:r>
          </a:p>
          <a:p>
            <a:pPr lvl="1"/>
            <a:r>
              <a:rPr sz="1600"/>
              <a:t>Case 1 — Base</a:t>
            </a:r>
          </a:p>
          <a:p>
            <a:pPr lvl="1"/>
            <a:r>
              <a:rPr sz="1600"/>
              <a:t>Case 2 — Delayed usage receipt</a:t>
            </a:r>
          </a:p>
          <a:p>
            <a:pPr lvl="1"/>
            <a:r>
              <a:rPr sz="1600"/>
              <a:t>Case 3 — Major operating incident</a:t>
            </a:r>
          </a:p>
          <a:p>
            <a:pPr/>
            <a:r>
              <a:rPr sz="1800"/>
              <a:t>3. Financing and covenant</a:t>
            </a:r>
          </a:p>
          <a:p>
            <a:pPr/>
            <a:r>
              <a:rPr sz="1800"/>
              <a:t>4. Recommendation</a:t>
            </a:r>
          </a:p>
          <a:p>
            <a:pPr/>
            <a:r>
              <a:rPr sz="1800"/>
              <a:t>5. Closing</a:t>
            </a:r>
          </a:p>
          <a:p>
            <a:pPr/>
            <a:r>
              <a:rPr sz="1800"/>
              <a:t>Appendix: supporting schedules</a:t>
            </a:r>
          </a:p>
        </p:txBody>
      </p:sp>
      <p:sp>
        <p:nvSpPr>
          <p:cNvPr id="4" name="Agenda footnote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Deck conventions: a sensitivity slide is placed directly after the slide it sensitises; Recommendation always immediately precedes Closing.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Helix Research anchor contract and USD 20.0m hardware financing commence 1 January 2028.</a:t>
            </a:r>
          </a:p>
          <a:p>
            <a:pPr/>
            <a:r>
              <a:rPr sz="1800"/>
              <a:t>Base case meets the 1.25x monthly DSCR covenant in every tested month without sponsor support.</a:t>
            </a:r>
          </a:p>
          <a:p>
            <a:pPr/>
            <a:r>
              <a:rPr sz="1800"/>
              <a:t>Delayed usage receipt needs USD 320k of sponsor support over two months; the cure restores the covenant.</a:t>
            </a:r>
          </a:p>
          <a:p>
            <a:pPr/>
            <a:r>
              <a:rPr sz="1800"/>
              <a:t>Major operating incident exhausts the USD 1.0m support cap and leaves an unresolved breach.</a:t>
            </a:r>
          </a:p>
          <a:p>
            <a:pPr/>
            <a:r>
              <a:rPr sz="1800"/>
              <a:t>Sponsor IRR ranges from 10.4% to 12.1% across the funded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Each case changes only the fields shown in the Cases tab of the source workbook; prices, service obligations and the financing commitments are fixed.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 — Base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12.1%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9.7m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 — Delayed usage receipt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320k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11.0%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9.4m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3 — Major operating incident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-33.60x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-33.10x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1,000k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n/a (unfunded)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Financing and covenant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Facility terms, covenant performance and sponsor support across the presented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Covenant: monthly DSCR and sponsor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Minimum monthly cash DSCR of 1.25x, tested from forecast month 3 in each month with debt service.</a:t>
            </a:r>
          </a:p>
          <a:p>
            <a:pPr/>
            <a:r>
              <a:rPr sz="1800"/>
              <a:t>Sponsor support: USD 250k monthly cap and USD 1.0m lifetime cap; the covenant portion counts as a current-month equity cure.</a:t>
            </a:r>
          </a:p>
          <a:p>
            <a:pPr/>
            <a:r>
              <a:rPr sz="1800"/>
              <a:t>Base case minimum operating DSCR 1.31x. Delayed receipt falls to 0.62x in the delayed month and is cured to 1.25x.</a:t>
            </a:r>
          </a:p>
          <a:p>
            <a:pPr/>
            <a:r>
              <a:rPr sz="1800"/>
              <a:t>Operating incident: the covenant breach is unresolved once the lifetime cap is exhausted.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Funding: sources and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Uses: new hardware USD 20.0m, paid on signing on 1 January 2028.</a:t>
            </a:r>
          </a:p>
          <a:p>
            <a:pPr/>
            <a:r>
              <a:rPr sz="1800"/>
              <a:t>Sources: lender advance USD 14.0m (70%) and sponsor hardware equity USD 6.0m (30%), both on 1 January 2028.</a:t>
            </a:r>
          </a:p>
          <a:p>
            <a:pPr/>
            <a:r>
              <a:rPr sz="1800"/>
              <a:t>Customer advance of USD 10.8m (30% of initial fixed consideration) is unrestricted operating cash and is excluded from the covenant numerator at receipt.</a:t>
            </a:r>
          </a:p>
          <a:p>
            <a:pPr/>
            <a:r>
              <a:rPr sz="1800"/>
              <a:t>Debt: 10% annual cash interest, 36 equal principal instalments from month 3, USD 15k quarter-end agent fee.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Proceed with the hardware financing under the signed terms and the base-case credit designation.</a:t>
            </a:r>
          </a:p>
          <a:p>
            <a:pPr/>
            <a:r>
              <a:rPr sz="1800"/>
              <a:t>Retain the committed sponsor support of USD 1.0m for the delayed-receipt case.</a:t>
            </a:r>
          </a:p>
          <a:p>
            <a:pPr/>
            <a:r>
              <a:rPr sz="1800"/>
              <a:t>Do not present the operating-incident case as an achievable sponsor return; its shortfall is unfunded.</a:t>
            </a:r>
          </a:p>
          <a:p>
            <a:pPr/>
            <a:r>
              <a:rPr sz="1800"/>
              <a:t>Confirm the renewal credit-transfer position with Helix Research before the renewal is signed.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Decisions requested: approve the financing; approve the support commitment; note the incident-case exposure.</a:t>
            </a:r>
          </a:p>
          <a:p>
            <a:pPr/>
            <a:r>
              <a:rPr sz="1800"/>
              <a:t>Next steps: lender confirmation of the covenant definitions; renewal clause confirmation with Helix Research.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Supporting schedules drawn from model_outputs.xlsx.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DSCR summary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operating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post-cure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after cure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-33.60x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1.18x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'DSCR summary'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Sponsor return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Equity invested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Distribution 31 Dec 2031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Sponsor IRR (%)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12.1%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11.0%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 (unfunded)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'Sponsor return'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reference: Case card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Reference slide. Duplicate this layout for new case slides. Do not edit this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Sensitivity: DSCR with support cap minus 20%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1.14x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270k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9.3m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'Sensitivity'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