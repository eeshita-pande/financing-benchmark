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2" r:id="rId24"/>
    <p:sldId id="270" r:id="rId22"/>
    <p:sldId id="271"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Investment committee pack for the Northstar Compute GPU infrastructure financing.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agenda briefly. The case list mirrors the order of the case slides in the deck.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Headline messages. Figures are fictional illustrative model outputs.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of the four modelled cases are presented in this version of the deck.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Case 1 headline metrics from the Case summary tab.</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Case 2 headline metrics from the Case summary tab.</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Case 3 headline metrics from the Case summary tab.</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Financing section: covenant first, then sources and uses.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Covenant mechanics and results. Operating ratio and post-cure ratio are shown separately on the case cards.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and uses on the funding date.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Recommendation to the committee.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decisions requested and next steps.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convention: a newly added schedule is inserted directly after this Appendix divider, ahead of the existing schedules, so that the committee sees new material first. Schedules are never appended at the end of the appendix and are not ordered by workbook tab.</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DSCR schedule per case.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Sponsor return schedule per case.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Locked reference slide. Keep it as the last slide of the deck.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Support-cap utilisation per case.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ase car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Schedu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slideLayout" Target="../slideLayouts/slideLayout12.xml"/><Relationship Id="rId14"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3"/>
    <p:sldLayoutId id="2147483661" r:id="rId14"/>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Northstar Compute: hardware financing and customer arrangements</a:t>
            </a:r>
          </a:p>
        </p:txBody>
      </p:sp>
      <p:sp>
        <p:nvSpPr>
          <p:cNvPr id="3" name="Subtitle 2"/>
          <p:cNvSpPr>
            <a:spLocks noGrp="1"/>
          </p:cNvSpPr>
          <p:nvPr>
            <p:ph type="subTitle" idx="1"/>
          </p:nvPr>
        </p:nvSpPr>
        <p:spPr/>
        <p:txBody>
          <a:bodyPr/>
          <a:lstStyle/>
          <a:p>
            <a:r>
              <a:t>Investment committee pack. Fictional illustrative figures.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a:t>
            </a:r>
          </a:p>
        </p:txBody>
      </p:sp>
      <p:sp>
        <p:nvSpPr>
          <p:cNvPr id="3" name="Content Placeholder 2"/>
          <p:cNvSpPr>
            <a:spLocks noGrp="1"/>
          </p:cNvSpPr>
          <p:nvPr>
            <p:ph idx="1"/>
          </p:nvPr>
        </p:nvSpPr>
        <p:spPr/>
        <p:txBody>
          <a:bodyPr/>
          <a:lstStyle/>
          <a:p>
            <a:pPr/>
            <a:r>
              <a:rPr sz="1800"/>
              <a:t>1. Executive summary</a:t>
            </a:r>
          </a:p>
          <a:p>
            <a:pPr/>
            <a:r>
              <a:rPr sz="1800"/>
              <a:t>2. Cases</a:t>
            </a:r>
          </a:p>
          <a:p>
            <a:pPr lvl="1"/>
            <a:r>
              <a:rPr sz="1600"/>
              <a:t>Case 1 — Base</a:t>
            </a:r>
          </a:p>
          <a:p>
            <a:pPr lvl="1"/>
            <a:r>
              <a:rPr sz="1600"/>
              <a:t>Case 2 — Delayed usage receipt</a:t>
            </a:r>
          </a:p>
          <a:p>
            <a:pPr lvl="1"/>
            <a:r>
              <a:rPr sz="1600"/>
              <a:t>Case 3 — Major operating incident</a:t>
            </a:r>
          </a:p>
          <a:p>
            <a:pPr/>
            <a:r>
              <a:rPr sz="1800"/>
              <a:t>3. Financing and covenant</a:t>
            </a:r>
          </a:p>
          <a:p>
            <a:pPr/>
            <a:r>
              <a:rPr sz="1800"/>
              <a:t>4. Recommendation</a:t>
            </a:r>
          </a:p>
          <a:p>
            <a:pPr/>
            <a:r>
              <a:rPr sz="1800"/>
              <a:t>5. Closing</a:t>
            </a:r>
          </a:p>
          <a:p>
            <a:pPr/>
            <a:r>
              <a:rPr sz="1800"/>
              <a:t>Appendix: supporting schedules</a:t>
            </a:r>
          </a:p>
        </p:txBody>
      </p:sp>
      <p:sp>
        <p:nvSpPr>
          <p:cNvPr id="4" name="Agenda footnote"/>
          <p:cNvSpPr txBox="1"/>
          <p:nvPr/>
        </p:nvSpPr>
        <p:spPr>
          <a:xfrm>
            <a:off x="457200" y="6035040"/>
            <a:ext cx="8229600" cy="548640"/>
          </a:xfrm>
          <a:prstGeom prst="rect">
            <a:avLst/>
          </a:prstGeom>
          <a:noFill/>
        </p:spPr>
        <p:txBody>
          <a:bodyPr wrap="square">
            <a:spAutoFit/>
          </a:bodyPr>
          <a:lstStyle/>
          <a:p>
            <a:r>
              <a:rPr sz="1000" b="0">
                <a:solidFill>
                  <a:srgbClr val="595959"/>
                </a:solidFill>
              </a:rPr>
              <a:t>All figures are fictional illustrative outputs of the Northstar Compute model (model_outputs.xlsx).</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a:t>
            </a:r>
          </a:p>
        </p:txBody>
      </p:sp>
      <p:sp>
        <p:nvSpPr>
          <p:cNvPr id="3" name="Content Placeholder 2"/>
          <p:cNvSpPr>
            <a:spLocks noGrp="1"/>
          </p:cNvSpPr>
          <p:nvPr>
            <p:ph idx="1"/>
          </p:nvPr>
        </p:nvSpPr>
        <p:spPr/>
        <p:txBody>
          <a:bodyPr/>
          <a:lstStyle/>
          <a:p>
            <a:pPr/>
            <a:r>
              <a:rPr sz="1800"/>
              <a:t>Helix Research anchor contract and USD 20.0m hardware financing commence 1 January 2028.</a:t>
            </a:r>
          </a:p>
          <a:p>
            <a:pPr/>
            <a:r>
              <a:rPr sz="1800"/>
              <a:t>Base case meets the 1.25x monthly DSCR covenant in every tested month without sponsor support.</a:t>
            </a:r>
          </a:p>
          <a:p>
            <a:pPr/>
            <a:r>
              <a:rPr sz="1800"/>
              <a:t>Delayed usage receipt needs USD 320k of sponsor support over two months; the cure restores the covenant.</a:t>
            </a:r>
          </a:p>
          <a:p>
            <a:pPr/>
            <a:r>
              <a:rPr sz="1800"/>
              <a:t>Major operating incident exhausts the USD 1.0m support cap and leaves an unresolved breach.</a:t>
            </a:r>
          </a:p>
          <a:p>
            <a:pPr/>
            <a:r>
              <a:rPr sz="1800"/>
              <a:t>Sponsor IRR ranges from 10.4% to 12.1% across the funded cases.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Cases</a:t>
            </a:r>
          </a:p>
        </p:txBody>
      </p:sp>
      <p:sp>
        <p:nvSpPr>
          <p:cNvPr id="3" name="Text Placeholder 2"/>
          <p:cNvSpPr>
            <a:spLocks noGrp="1"/>
          </p:cNvSpPr>
          <p:nvPr>
            <p:ph type="body" idx="1"/>
          </p:nvPr>
        </p:nvSpPr>
        <p:spPr/>
        <p:txBody>
          <a:bodyPr/>
          <a:lstStyle/>
          <a:p>
            <a:pPr/>
            <a:r>
              <a:rPr sz="1800"/>
              <a:t>Each case changes only the fields shown in the Cases tab of the source workbook; prices, service obligations and the financing commitments are fixed.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Case 1 — Base</a:t>
            </a:r>
          </a:p>
        </p:txBody>
      </p:sp>
      <p:sp>
        <p:nvSpPr>
          <p:cNvPr id="3" name="Tile Min operating DSCR"/>
          <p:cNvSpPr/>
          <p:nvPr/>
        </p:nvSpPr>
        <p:spPr>
          <a:xfrm>
            <a:off x="457200"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Min operating DSCR</a:t>
            </a:r>
          </a:p>
          <a:p>
            <a:pPr algn="ctr"/>
            <a:r>
              <a:rPr sz="2200" b="1">
                <a:solidFill>
                  <a:srgbClr val="1F3A5F"/>
                </a:solidFill>
              </a:rPr>
              <a:t>1.31x</a:t>
            </a:r>
          </a:p>
        </p:txBody>
      </p:sp>
      <p:sp>
        <p:nvSpPr>
          <p:cNvPr id="4" name="Tile Min post-cure DSCR"/>
          <p:cNvSpPr/>
          <p:nvPr/>
        </p:nvSpPr>
        <p:spPr>
          <a:xfrm>
            <a:off x="2514599"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Min post-cure DSCR</a:t>
            </a:r>
          </a:p>
          <a:p>
            <a:pPr algn="ctr"/>
            <a:r>
              <a:rPr sz="2200" b="1">
                <a:solidFill>
                  <a:srgbClr val="1F3A5F"/>
                </a:solidFill>
              </a:rPr>
              <a:t>1.31x</a:t>
            </a:r>
          </a:p>
        </p:txBody>
      </p:sp>
      <p:sp>
        <p:nvSpPr>
          <p:cNvPr id="5" name="Tile Sponsor support used"/>
          <p:cNvSpPr/>
          <p:nvPr/>
        </p:nvSpPr>
        <p:spPr>
          <a:xfrm>
            <a:off x="4571998"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Sponsor support used</a:t>
            </a:r>
          </a:p>
          <a:p>
            <a:pPr algn="ctr"/>
            <a:r>
              <a:rPr sz="2200" b="1">
                <a:solidFill>
                  <a:srgbClr val="1F3A5F"/>
                </a:solidFill>
              </a:rPr>
              <a:t>USD 0k</a:t>
            </a:r>
          </a:p>
        </p:txBody>
      </p:sp>
      <p:sp>
        <p:nvSpPr>
          <p:cNvPr id="6" name="Tile Sponsor IRR"/>
          <p:cNvSpPr/>
          <p:nvPr/>
        </p:nvSpPr>
        <p:spPr>
          <a:xfrm>
            <a:off x="6629397"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Sponsor IRR</a:t>
            </a:r>
          </a:p>
          <a:p>
            <a:pPr algn="ctr"/>
            <a:r>
              <a:rPr sz="2200" b="1">
                <a:solidFill>
                  <a:srgbClr val="1F3A5F"/>
                </a:solidFill>
              </a:rPr>
              <a:t>12.1%</a:t>
            </a:r>
          </a:p>
        </p:txBody>
      </p:sp>
      <p:graphicFrame>
        <p:nvGraphicFramePr>
          <p:cNvPr id="7" name="Metrics table"/>
          <p:cNvGraphicFramePr>
            <a:graphicFrameLocks noGrp="1"/>
          </p:cNvGraphicFramePr>
          <p:nvPr/>
        </p:nvGraphicFramePr>
        <p:xfrm>
          <a:off x="457200" y="3017520"/>
          <a:ext cx="8229600" cy="1463040"/>
        </p:xfrm>
        <a:graphic>
          <a:graphicData uri="http://schemas.openxmlformats.org/drawingml/2006/table">
            <a:tbl>
              <a:tblPr firstRow="1" bandRow="1">
                <a:tableStyleId>{5C22544A-7EE6-4342-B048-85BDC9FD1C3A}</a:tableStyleId>
              </a:tblPr>
              <a:tblGrid>
                <a:gridCol w="5029200"/>
                <a:gridCol w="3200400"/>
              </a:tblGrid>
              <a:tr h="365760">
                <a:tc>
                  <a:txBody>
                    <a:bodyPr/>
                    <a:lstStyle/>
                    <a:p>
                      <a:r>
                        <a:rPr sz="1200" b="1"/>
                        <a:t>Metric</a:t>
                      </a:r>
                    </a:p>
                  </a:txBody>
                  <a:tcPr/>
                </a:tc>
                <a:tc>
                  <a:txBody>
                    <a:bodyPr/>
                    <a:lstStyle/>
                    <a:p>
                      <a:r>
                        <a:rPr sz="1200" b="1"/>
                        <a:t>Value</a:t>
                      </a:r>
                    </a:p>
                  </a:txBody>
                  <a:tcPr/>
                </a:tc>
              </a:tr>
              <a:tr h="365760">
                <a:tc>
                  <a:txBody>
                    <a:bodyPr/>
                    <a:lstStyle/>
                    <a:p>
                      <a:r>
                        <a:rPr sz="1200" b="0"/>
                        <a:t>Total service receipts</a:t>
                      </a:r>
                    </a:p>
                  </a:txBody>
                  <a:tcPr/>
                </a:tc>
                <a:tc>
                  <a:txBody>
                    <a:bodyPr/>
                    <a:lstStyle/>
                    <a:p>
                      <a:r>
                        <a:rPr sz="1200" b="0"/>
                        <a:t>USD 59.4m</a:t>
                      </a:r>
                    </a:p>
                  </a:txBody>
                  <a:tcPr/>
                </a:tc>
              </a:tr>
              <a:tr h="365760">
                <a:tc>
                  <a:txBody>
                    <a:bodyPr/>
                    <a:lstStyle/>
                    <a:p>
                      <a:r>
                        <a:rPr sz="1200" b="0"/>
                        <a:t>Total debt service</a:t>
                      </a:r>
                    </a:p>
                  </a:txBody>
                  <a:tcPr/>
                </a:tc>
                <a:tc>
                  <a:txBody>
                    <a:bodyPr/>
                    <a:lstStyle/>
                    <a:p>
                      <a:r>
                        <a:rPr sz="1200" b="0"/>
                        <a:t>USD 16.4m</a:t>
                      </a:r>
                    </a:p>
                  </a:txBody>
                  <a:tcPr/>
                </a:tc>
              </a:tr>
              <a:tr h="365760">
                <a:tc>
                  <a:txBody>
                    <a:bodyPr/>
                    <a:lstStyle/>
                    <a:p>
                      <a:r>
                        <a:rPr sz="1200" b="0"/>
                        <a:t>Closing cash, 31 Dec 2031</a:t>
                      </a:r>
                    </a:p>
                  </a:txBody>
                  <a:tcPr/>
                </a:tc>
                <a:tc>
                  <a:txBody>
                    <a:bodyPr/>
                    <a:lstStyle/>
                    <a:p>
                      <a:r>
                        <a:rPr sz="1200" b="0"/>
                        <a:t>USD 9.7m</a:t>
                      </a:r>
                    </a:p>
                  </a:txBody>
                  <a:tcPr/>
                </a:tc>
              </a:tr>
            </a:tbl>
          </a:graphicData>
        </a:graphic>
      </p:graphicFrame>
      <p:sp>
        <p:nvSpPr>
          <p:cNvPr id="8" name="Source note"/>
          <p:cNvSpPr txBox="1"/>
          <p:nvPr/>
        </p:nvSpPr>
        <p:spPr>
          <a:xfrm>
            <a:off x="457200" y="6035040"/>
            <a:ext cx="8229600" cy="457200"/>
          </a:xfrm>
          <a:prstGeom prst="rect">
            <a:avLst/>
          </a:prstGeom>
          <a:noFill/>
        </p:spPr>
        <p:txBody>
          <a:bodyPr wrap="square">
            <a:spAutoFit/>
          </a:bodyPr>
          <a:lstStyle/>
          <a:p>
            <a:r>
              <a:rPr sz="1000" b="0">
                <a:solidFill>
                  <a:srgbClr val="595959"/>
                </a:solidFill>
              </a:rPr>
              <a:t>Source: model_outputs.xlsx, tab 'Case summary'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Case 2 — Delayed usage receipt</a:t>
            </a:r>
          </a:p>
        </p:txBody>
      </p:sp>
      <p:sp>
        <p:nvSpPr>
          <p:cNvPr id="3" name="Tile Min operating DSCR"/>
          <p:cNvSpPr/>
          <p:nvPr/>
        </p:nvSpPr>
        <p:spPr>
          <a:xfrm>
            <a:off x="457200"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Min operating DSCR</a:t>
            </a:r>
          </a:p>
          <a:p>
            <a:pPr algn="ctr"/>
            <a:r>
              <a:rPr sz="2200" b="1">
                <a:solidFill>
                  <a:srgbClr val="1F3A5F"/>
                </a:solidFill>
              </a:rPr>
              <a:t>0.62x</a:t>
            </a:r>
          </a:p>
        </p:txBody>
      </p:sp>
      <p:sp>
        <p:nvSpPr>
          <p:cNvPr id="4" name="Tile Min post-cure DSCR"/>
          <p:cNvSpPr/>
          <p:nvPr/>
        </p:nvSpPr>
        <p:spPr>
          <a:xfrm>
            <a:off x="2514599"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Min post-cure DSCR</a:t>
            </a:r>
          </a:p>
          <a:p>
            <a:pPr algn="ctr"/>
            <a:r>
              <a:rPr sz="2200" b="1">
                <a:solidFill>
                  <a:srgbClr val="1F3A5F"/>
                </a:solidFill>
              </a:rPr>
              <a:t>1.25x</a:t>
            </a:r>
          </a:p>
        </p:txBody>
      </p:sp>
      <p:sp>
        <p:nvSpPr>
          <p:cNvPr id="5" name="Tile Sponsor support used"/>
          <p:cNvSpPr/>
          <p:nvPr/>
        </p:nvSpPr>
        <p:spPr>
          <a:xfrm>
            <a:off x="4571998"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Sponsor support used</a:t>
            </a:r>
          </a:p>
          <a:p>
            <a:pPr algn="ctr"/>
            <a:r>
              <a:rPr sz="2200" b="1">
                <a:solidFill>
                  <a:srgbClr val="1F3A5F"/>
                </a:solidFill>
              </a:rPr>
              <a:t>USD 320k</a:t>
            </a:r>
          </a:p>
        </p:txBody>
      </p:sp>
      <p:sp>
        <p:nvSpPr>
          <p:cNvPr id="6" name="Tile Sponsor IRR"/>
          <p:cNvSpPr/>
          <p:nvPr/>
        </p:nvSpPr>
        <p:spPr>
          <a:xfrm>
            <a:off x="6629397"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Sponsor IRR</a:t>
            </a:r>
          </a:p>
          <a:p>
            <a:pPr algn="ctr"/>
            <a:r>
              <a:rPr sz="2200" b="1">
                <a:solidFill>
                  <a:srgbClr val="1F3A5F"/>
                </a:solidFill>
              </a:rPr>
              <a:t>11.0%</a:t>
            </a:r>
          </a:p>
        </p:txBody>
      </p:sp>
      <p:graphicFrame>
        <p:nvGraphicFramePr>
          <p:cNvPr id="7" name="Metrics table"/>
          <p:cNvGraphicFramePr>
            <a:graphicFrameLocks noGrp="1"/>
          </p:cNvGraphicFramePr>
          <p:nvPr/>
        </p:nvGraphicFramePr>
        <p:xfrm>
          <a:off x="457200" y="3017520"/>
          <a:ext cx="8229600" cy="1463040"/>
        </p:xfrm>
        <a:graphic>
          <a:graphicData uri="http://schemas.openxmlformats.org/drawingml/2006/table">
            <a:tbl>
              <a:tblPr firstRow="1" bandRow="1">
                <a:tableStyleId>{5C22544A-7EE6-4342-B048-85BDC9FD1C3A}</a:tableStyleId>
              </a:tblPr>
              <a:tblGrid>
                <a:gridCol w="5029200"/>
                <a:gridCol w="3200400"/>
              </a:tblGrid>
              <a:tr h="365760">
                <a:tc>
                  <a:txBody>
                    <a:bodyPr/>
                    <a:lstStyle/>
                    <a:p>
                      <a:r>
                        <a:rPr sz="1200" b="1"/>
                        <a:t>Metric</a:t>
                      </a:r>
                    </a:p>
                  </a:txBody>
                  <a:tcPr/>
                </a:tc>
                <a:tc>
                  <a:txBody>
                    <a:bodyPr/>
                    <a:lstStyle/>
                    <a:p>
                      <a:r>
                        <a:rPr sz="1200" b="1"/>
                        <a:t>Value</a:t>
                      </a:r>
                    </a:p>
                  </a:txBody>
                  <a:tcPr/>
                </a:tc>
              </a:tr>
              <a:tr h="365760">
                <a:tc>
                  <a:txBody>
                    <a:bodyPr/>
                    <a:lstStyle/>
                    <a:p>
                      <a:r>
                        <a:rPr sz="1200" b="0"/>
                        <a:t>Total service receipts</a:t>
                      </a:r>
                    </a:p>
                  </a:txBody>
                  <a:tcPr/>
                </a:tc>
                <a:tc>
                  <a:txBody>
                    <a:bodyPr/>
                    <a:lstStyle/>
                    <a:p>
                      <a:r>
                        <a:rPr sz="1200" b="0"/>
                        <a:t>USD 59.4m</a:t>
                      </a:r>
                    </a:p>
                  </a:txBody>
                  <a:tcPr/>
                </a:tc>
              </a:tr>
              <a:tr h="365760">
                <a:tc>
                  <a:txBody>
                    <a:bodyPr/>
                    <a:lstStyle/>
                    <a:p>
                      <a:r>
                        <a:rPr sz="1200" b="0"/>
                        <a:t>Total debt service</a:t>
                      </a:r>
                    </a:p>
                  </a:txBody>
                  <a:tcPr/>
                </a:tc>
                <a:tc>
                  <a:txBody>
                    <a:bodyPr/>
                    <a:lstStyle/>
                    <a:p>
                      <a:r>
                        <a:rPr sz="1200" b="0"/>
                        <a:t>USD 16.4m</a:t>
                      </a:r>
                    </a:p>
                  </a:txBody>
                  <a:tcPr/>
                </a:tc>
              </a:tr>
              <a:tr h="365760">
                <a:tc>
                  <a:txBody>
                    <a:bodyPr/>
                    <a:lstStyle/>
                    <a:p>
                      <a:r>
                        <a:rPr sz="1200" b="0"/>
                        <a:t>Closing cash, 31 Dec 2031</a:t>
                      </a:r>
                    </a:p>
                  </a:txBody>
                  <a:tcPr/>
                </a:tc>
                <a:tc>
                  <a:txBody>
                    <a:bodyPr/>
                    <a:lstStyle/>
                    <a:p>
                      <a:r>
                        <a:rPr sz="1200" b="0"/>
                        <a:t>USD 9.4m</a:t>
                      </a:r>
                    </a:p>
                  </a:txBody>
                  <a:tcPr/>
                </a:tc>
              </a:tr>
            </a:tbl>
          </a:graphicData>
        </a:graphic>
      </p:graphicFrame>
      <p:sp>
        <p:nvSpPr>
          <p:cNvPr id="8" name="Source note"/>
          <p:cNvSpPr txBox="1"/>
          <p:nvPr/>
        </p:nvSpPr>
        <p:spPr>
          <a:xfrm>
            <a:off x="457200" y="6035040"/>
            <a:ext cx="8229600" cy="457200"/>
          </a:xfrm>
          <a:prstGeom prst="rect">
            <a:avLst/>
          </a:prstGeom>
          <a:noFill/>
        </p:spPr>
        <p:txBody>
          <a:bodyPr wrap="square">
            <a:spAutoFit/>
          </a:bodyPr>
          <a:lstStyle/>
          <a:p>
            <a:r>
              <a:rPr sz="1000" b="0">
                <a:solidFill>
                  <a:srgbClr val="595959"/>
                </a:solidFill>
              </a:rPr>
              <a:t>Source: model_outputs.xlsx, tab 'Case summary'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Case 3 — Major operating incident</a:t>
            </a:r>
          </a:p>
        </p:txBody>
      </p:sp>
      <p:sp>
        <p:nvSpPr>
          <p:cNvPr id="3" name="Tile Min operating DSCR"/>
          <p:cNvSpPr/>
          <p:nvPr/>
        </p:nvSpPr>
        <p:spPr>
          <a:xfrm>
            <a:off x="457200"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Min operating DSCR</a:t>
            </a:r>
          </a:p>
          <a:p>
            <a:pPr algn="ctr"/>
            <a:r>
              <a:rPr sz="2200" b="1">
                <a:solidFill>
                  <a:srgbClr val="1F3A5F"/>
                </a:solidFill>
              </a:rPr>
              <a:t>-33.60x</a:t>
            </a:r>
          </a:p>
        </p:txBody>
      </p:sp>
      <p:sp>
        <p:nvSpPr>
          <p:cNvPr id="4" name="Tile Min post-cure DSCR"/>
          <p:cNvSpPr/>
          <p:nvPr/>
        </p:nvSpPr>
        <p:spPr>
          <a:xfrm>
            <a:off x="2514599"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Min post-cure DSCR</a:t>
            </a:r>
          </a:p>
          <a:p>
            <a:pPr algn="ctr"/>
            <a:r>
              <a:rPr sz="2200" b="1">
                <a:solidFill>
                  <a:srgbClr val="1F3A5F"/>
                </a:solidFill>
              </a:rPr>
              <a:t>-33.10x</a:t>
            </a:r>
          </a:p>
        </p:txBody>
      </p:sp>
      <p:sp>
        <p:nvSpPr>
          <p:cNvPr id="5" name="Tile Sponsor support used"/>
          <p:cNvSpPr/>
          <p:nvPr/>
        </p:nvSpPr>
        <p:spPr>
          <a:xfrm>
            <a:off x="4571998"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Sponsor support used</a:t>
            </a:r>
          </a:p>
          <a:p>
            <a:pPr algn="ctr"/>
            <a:r>
              <a:rPr sz="2200" b="1">
                <a:solidFill>
                  <a:srgbClr val="1F3A5F"/>
                </a:solidFill>
              </a:rPr>
              <a:t>USD 1,000k</a:t>
            </a:r>
          </a:p>
        </p:txBody>
      </p:sp>
      <p:sp>
        <p:nvSpPr>
          <p:cNvPr id="6" name="Tile Sponsor IRR"/>
          <p:cNvSpPr/>
          <p:nvPr/>
        </p:nvSpPr>
        <p:spPr>
          <a:xfrm>
            <a:off x="6629397"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Sponsor IRR</a:t>
            </a:r>
          </a:p>
          <a:p>
            <a:pPr algn="ctr"/>
            <a:r>
              <a:rPr sz="2200" b="1">
                <a:solidFill>
                  <a:srgbClr val="1F3A5F"/>
                </a:solidFill>
              </a:rPr>
              <a:t>n/a (unfunded)</a:t>
            </a:r>
          </a:p>
        </p:txBody>
      </p:sp>
      <p:graphicFrame>
        <p:nvGraphicFramePr>
          <p:cNvPr id="7" name="Metrics table"/>
          <p:cNvGraphicFramePr>
            <a:graphicFrameLocks noGrp="1"/>
          </p:cNvGraphicFramePr>
          <p:nvPr/>
        </p:nvGraphicFramePr>
        <p:xfrm>
          <a:off x="457200" y="3017520"/>
          <a:ext cx="8229600" cy="1463040"/>
        </p:xfrm>
        <a:graphic>
          <a:graphicData uri="http://schemas.openxmlformats.org/drawingml/2006/table">
            <a:tbl>
              <a:tblPr firstRow="1" bandRow="1">
                <a:tableStyleId>{5C22544A-7EE6-4342-B048-85BDC9FD1C3A}</a:tableStyleId>
              </a:tblPr>
              <a:tblGrid>
                <a:gridCol w="5029200"/>
                <a:gridCol w="3200400"/>
              </a:tblGrid>
              <a:tr h="365760">
                <a:tc>
                  <a:txBody>
                    <a:bodyPr/>
                    <a:lstStyle/>
                    <a:p>
                      <a:r>
                        <a:rPr sz="1200" b="1"/>
                        <a:t>Metric</a:t>
                      </a:r>
                    </a:p>
                  </a:txBody>
                  <a:tcPr/>
                </a:tc>
                <a:tc>
                  <a:txBody>
                    <a:bodyPr/>
                    <a:lstStyle/>
                    <a:p>
                      <a:r>
                        <a:rPr sz="1200" b="1"/>
                        <a:t>Value</a:t>
                      </a:r>
                    </a:p>
                  </a:txBody>
                  <a:tcPr/>
                </a:tc>
              </a:tr>
              <a:tr h="365760">
                <a:tc>
                  <a:txBody>
                    <a:bodyPr/>
                    <a:lstStyle/>
                    <a:p>
                      <a:r>
                        <a:rPr sz="1200" b="0"/>
                        <a:t>Total service receipts</a:t>
                      </a:r>
                    </a:p>
                  </a:txBody>
                  <a:tcPr/>
                </a:tc>
                <a:tc>
                  <a:txBody>
                    <a:bodyPr/>
                    <a:lstStyle/>
                    <a:p>
                      <a:r>
                        <a:rPr sz="1200" b="0"/>
                        <a:t>USD 59.4m</a:t>
                      </a:r>
                    </a:p>
                  </a:txBody>
                  <a:tcPr/>
                </a:tc>
              </a:tr>
              <a:tr h="365760">
                <a:tc>
                  <a:txBody>
                    <a:bodyPr/>
                    <a:lstStyle/>
                    <a:p>
                      <a:r>
                        <a:rPr sz="1200" b="0"/>
                        <a:t>Total debt service</a:t>
                      </a:r>
                    </a:p>
                  </a:txBody>
                  <a:tcPr/>
                </a:tc>
                <a:tc>
                  <a:txBody>
                    <a:bodyPr/>
                    <a:lstStyle/>
                    <a:p>
                      <a:r>
                        <a:rPr sz="1200" b="0"/>
                        <a:t>USD 16.4m</a:t>
                      </a:r>
                    </a:p>
                  </a:txBody>
                  <a:tcPr/>
                </a:tc>
              </a:tr>
              <a:tr h="365760">
                <a:tc>
                  <a:txBody>
                    <a:bodyPr/>
                    <a:lstStyle/>
                    <a:p>
                      <a:r>
                        <a:rPr sz="1200" b="0"/>
                        <a:t>Closing cash, 31 Dec 2031</a:t>
                      </a:r>
                    </a:p>
                  </a:txBody>
                  <a:tcPr/>
                </a:tc>
                <a:tc>
                  <a:txBody>
                    <a:bodyPr/>
                    <a:lstStyle/>
                    <a:p>
                      <a:r>
                        <a:rPr sz="1200" b="0"/>
                        <a:t>USD -8.5m</a:t>
                      </a:r>
                    </a:p>
                  </a:txBody>
                  <a:tcPr/>
                </a:tc>
              </a:tr>
            </a:tbl>
          </a:graphicData>
        </a:graphic>
      </p:graphicFrame>
      <p:sp>
        <p:nvSpPr>
          <p:cNvPr id="8" name="Source note"/>
          <p:cNvSpPr txBox="1"/>
          <p:nvPr/>
        </p:nvSpPr>
        <p:spPr>
          <a:xfrm>
            <a:off x="457200" y="6035040"/>
            <a:ext cx="8229600" cy="457200"/>
          </a:xfrm>
          <a:prstGeom prst="rect">
            <a:avLst/>
          </a:prstGeom>
          <a:noFill/>
        </p:spPr>
        <p:txBody>
          <a:bodyPr wrap="square">
            <a:spAutoFit/>
          </a:bodyPr>
          <a:lstStyle/>
          <a:p>
            <a:r>
              <a:rPr sz="1000" b="0">
                <a:solidFill>
                  <a:srgbClr val="595959"/>
                </a:solidFill>
              </a:rPr>
              <a:t>Source: model_outputs.xlsx, tab 'Case summary'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Financing and covenant</a:t>
            </a:r>
          </a:p>
        </p:txBody>
      </p:sp>
      <p:sp>
        <p:nvSpPr>
          <p:cNvPr id="3" name="Text Placeholder 2"/>
          <p:cNvSpPr>
            <a:spLocks noGrp="1"/>
          </p:cNvSpPr>
          <p:nvPr>
            <p:ph type="body" idx="1"/>
          </p:nvPr>
        </p:nvSpPr>
        <p:spPr/>
        <p:txBody>
          <a:bodyPr/>
          <a:lstStyle/>
          <a:p>
            <a:pPr/>
            <a:r>
              <a:rPr sz="1800"/>
              <a:t>Facility terms, covenant performance and sponsor support across the presented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Covenant: monthly DSCR and sponsor support</a:t>
            </a:r>
          </a:p>
        </p:txBody>
      </p:sp>
      <p:sp>
        <p:nvSpPr>
          <p:cNvPr id="3" name="Content Placeholder 2"/>
          <p:cNvSpPr>
            <a:spLocks noGrp="1"/>
          </p:cNvSpPr>
          <p:nvPr>
            <p:ph idx="1"/>
          </p:nvPr>
        </p:nvSpPr>
        <p:spPr/>
        <p:txBody>
          <a:bodyPr/>
          <a:lstStyle/>
          <a:p>
            <a:pPr/>
            <a:r>
              <a:rPr sz="1800"/>
              <a:t>Minimum monthly cash DSCR of 1.25x, tested from forecast month 3 in each month with debt service.</a:t>
            </a:r>
          </a:p>
          <a:p>
            <a:pPr/>
            <a:r>
              <a:rPr sz="1800"/>
              <a:t>Sponsor support: USD 250k monthly cap and USD 1.0m lifetime cap; the covenant portion counts as a current-month equity cure.</a:t>
            </a:r>
          </a:p>
          <a:p>
            <a:pPr/>
            <a:r>
              <a:rPr sz="1800"/>
              <a:t>Base case minimum operating DSCR 1.31x. Delayed receipt falls to 0.62x in the delayed month and is cured to 1.25x.</a:t>
            </a:r>
          </a:p>
          <a:p>
            <a:pPr/>
            <a:r>
              <a:rPr sz="1800"/>
              <a:t>Operating incident: the covenant breach is unresolved once the lifetime cap is exhausted.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Funding: sources and uses</a:t>
            </a:r>
          </a:p>
        </p:txBody>
      </p:sp>
      <p:sp>
        <p:nvSpPr>
          <p:cNvPr id="3" name="Content Placeholder 2"/>
          <p:cNvSpPr>
            <a:spLocks noGrp="1"/>
          </p:cNvSpPr>
          <p:nvPr>
            <p:ph idx="1"/>
          </p:nvPr>
        </p:nvSpPr>
        <p:spPr/>
        <p:txBody>
          <a:bodyPr/>
          <a:lstStyle/>
          <a:p>
            <a:pPr/>
            <a:r>
              <a:rPr sz="1800"/>
              <a:t>Uses: new hardware USD 20.0m, paid on signing on 1 January 2028.</a:t>
            </a:r>
          </a:p>
          <a:p>
            <a:pPr/>
            <a:r>
              <a:rPr sz="1800"/>
              <a:t>Sources: lender advance USD 14.0m (70%) and sponsor hardware equity USD 6.0m (30%), both on 1 January 2028.</a:t>
            </a:r>
          </a:p>
          <a:p>
            <a:pPr/>
            <a:r>
              <a:rPr sz="1800"/>
              <a:t>Customer advance of USD 10.8m (30% of initial fixed consideration) is unrestricted operating cash and is excluded from the covenant numerator at receipt.</a:t>
            </a:r>
          </a:p>
          <a:p>
            <a:pPr/>
            <a:r>
              <a:rPr sz="1800"/>
              <a:t>Debt: 10% annual cash interest, 36 equal principal instalments from month 3, USD 15k quarter-end agent fee.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a:t>
            </a:r>
          </a:p>
        </p:txBody>
      </p:sp>
      <p:sp>
        <p:nvSpPr>
          <p:cNvPr id="3" name="Content Placeholder 2"/>
          <p:cNvSpPr>
            <a:spLocks noGrp="1"/>
          </p:cNvSpPr>
          <p:nvPr>
            <p:ph idx="1"/>
          </p:nvPr>
        </p:nvSpPr>
        <p:spPr/>
        <p:txBody>
          <a:bodyPr/>
          <a:lstStyle/>
          <a:p>
            <a:pPr/>
            <a:r>
              <a:rPr sz="1800"/>
              <a:t>Proceed with the hardware financing under the signed terms and the base-case credit designation.</a:t>
            </a:r>
          </a:p>
          <a:p>
            <a:pPr/>
            <a:r>
              <a:rPr sz="1800"/>
              <a:t>Retain the committed sponsor support of USD 1.0m for the delayed-receipt case.</a:t>
            </a:r>
          </a:p>
          <a:p>
            <a:pPr/>
            <a:r>
              <a:rPr sz="1800"/>
              <a:t>Do not present the operating-incident case as an achievable sponsor return; its shortfall is unfunded.</a:t>
            </a:r>
          </a:p>
          <a:p>
            <a:pPr/>
            <a:r>
              <a:rPr sz="1800"/>
              <a:t>Confirm the renewal credit-transfer position with Helix Research before the renewal is signed.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Closing</a:t>
            </a:r>
          </a:p>
        </p:txBody>
      </p:sp>
      <p:sp>
        <p:nvSpPr>
          <p:cNvPr id="3" name="Content Placeholder 2"/>
          <p:cNvSpPr>
            <a:spLocks noGrp="1"/>
          </p:cNvSpPr>
          <p:nvPr>
            <p:ph idx="1"/>
          </p:nvPr>
        </p:nvSpPr>
        <p:spPr/>
        <p:txBody>
          <a:bodyPr/>
          <a:lstStyle/>
          <a:p>
            <a:pPr/>
            <a:r>
              <a:rPr sz="1800"/>
              <a:t>Decisions requested: approve the financing; approve the support commitment; note the incident-case exposure.</a:t>
            </a:r>
          </a:p>
          <a:p>
            <a:pPr/>
            <a:r>
              <a:rPr sz="1800"/>
              <a:t>Next steps: lender confirmation of the covenant definitions; renewal clause confirmation with Helix Research.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Appendix</a:t>
            </a:r>
          </a:p>
        </p:txBody>
      </p:sp>
      <p:sp>
        <p:nvSpPr>
          <p:cNvPr id="3" name="Text Placeholder 2"/>
          <p:cNvSpPr>
            <a:spLocks noGrp="1"/>
          </p:cNvSpPr>
          <p:nvPr>
            <p:ph type="body" idx="1"/>
          </p:nvPr>
        </p:nvSpPr>
        <p:spPr/>
        <p:txBody>
          <a:bodyPr/>
          <a:lstStyle/>
          <a:p>
            <a:pPr/>
            <a:r>
              <a:rPr sz="1800"/>
              <a:t>Supporting schedules drawn from model_outputs.xlsx.</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Appendix: DSCR summary</a:t>
            </a:r>
          </a:p>
        </p:txBody>
      </p:sp>
      <p:graphicFrame>
        <p:nvGraphicFramePr>
          <p:cNvPr id="3" name="Metrics table"/>
          <p:cNvGraphicFramePr>
            <a:graphicFrameLocks noGrp="1"/>
          </p:cNvGraphicFramePr>
          <p:nvPr/>
        </p:nvGraphicFramePr>
        <p:xfrm>
          <a:off x="457200" y="1463040"/>
          <a:ext cx="8229600" cy="2377440"/>
        </p:xfrm>
        <a:graphic>
          <a:graphicData uri="http://schemas.openxmlformats.org/drawingml/2006/table">
            <a:tbl>
              <a:tblPr firstRow="1" bandRow="1">
                <a:tableStyleId>{5C22544A-7EE6-4342-B048-85BDC9FD1C3A}</a:tableStyleId>
              </a:tblPr>
              <a:tblGrid>
                <a:gridCol w="2743200"/>
                <a:gridCol w="1828800"/>
                <a:gridCol w="1828800"/>
                <a:gridCol w="1828800"/>
              </a:tblGrid>
              <a:tr h="475488">
                <a:tc>
                  <a:txBody>
                    <a:bodyPr/>
                    <a:lstStyle/>
                    <a:p>
                      <a:r>
                        <a:rPr sz="1200" b="1"/>
                        <a:t>Case</a:t>
                      </a:r>
                    </a:p>
                  </a:txBody>
                  <a:tcPr/>
                </a:tc>
                <a:tc>
                  <a:txBody>
                    <a:bodyPr/>
                    <a:lstStyle/>
                    <a:p>
                      <a:r>
                        <a:rPr sz="1200" b="1"/>
                        <a:t>Min operating DSCR (x)</a:t>
                      </a:r>
                    </a:p>
                  </a:txBody>
                  <a:tcPr/>
                </a:tc>
                <a:tc>
                  <a:txBody>
                    <a:bodyPr/>
                    <a:lstStyle/>
                    <a:p>
                      <a:r>
                        <a:rPr sz="1200" b="1"/>
                        <a:t>Min post-cure DSCR (x)</a:t>
                      </a:r>
                    </a:p>
                  </a:txBody>
                  <a:tcPr/>
                </a:tc>
                <a:tc>
                  <a:txBody>
                    <a:bodyPr/>
                    <a:lstStyle/>
                    <a:p>
                      <a:r>
                        <a:rPr sz="1200" b="1"/>
                        <a:t>Months below 1.25x after cure</a:t>
                      </a:r>
                    </a:p>
                  </a:txBody>
                  <a:tcPr/>
                </a:tc>
              </a:tr>
              <a:tr h="475488">
                <a:tc>
                  <a:txBody>
                    <a:bodyPr/>
                    <a:lstStyle/>
                    <a:p>
                      <a:r>
                        <a:rPr sz="1200" b="0"/>
                        <a:t>Base</a:t>
                      </a:r>
                    </a:p>
                  </a:txBody>
                  <a:tcPr/>
                </a:tc>
                <a:tc>
                  <a:txBody>
                    <a:bodyPr/>
                    <a:lstStyle/>
                    <a:p>
                      <a:r>
                        <a:rPr sz="1200" b="0"/>
                        <a:t>1.31x</a:t>
                      </a:r>
                    </a:p>
                  </a:txBody>
                  <a:tcPr/>
                </a:tc>
                <a:tc>
                  <a:txBody>
                    <a:bodyPr/>
                    <a:lstStyle/>
                    <a:p>
                      <a:r>
                        <a:rPr sz="1200" b="0"/>
                        <a:t>1.31x</a:t>
                      </a:r>
                    </a:p>
                  </a:txBody>
                  <a:tcPr/>
                </a:tc>
                <a:tc>
                  <a:txBody>
                    <a:bodyPr/>
                    <a:lstStyle/>
                    <a:p>
                      <a:r>
                        <a:rPr sz="1200" b="0"/>
                        <a:t>0</a:t>
                      </a:r>
                    </a:p>
                  </a:txBody>
                  <a:tcPr/>
                </a:tc>
              </a:tr>
              <a:tr h="475488">
                <a:tc>
                  <a:txBody>
                    <a:bodyPr/>
                    <a:lstStyle/>
                    <a:p>
                      <a:r>
                        <a:rPr sz="1200" b="0"/>
                        <a:t>Delayed usage receipt</a:t>
                      </a:r>
                    </a:p>
                  </a:txBody>
                  <a:tcPr/>
                </a:tc>
                <a:tc>
                  <a:txBody>
                    <a:bodyPr/>
                    <a:lstStyle/>
                    <a:p>
                      <a:r>
                        <a:rPr sz="1200" b="0"/>
                        <a:t>0.62x</a:t>
                      </a:r>
                    </a:p>
                  </a:txBody>
                  <a:tcPr/>
                </a:tc>
                <a:tc>
                  <a:txBody>
                    <a:bodyPr/>
                    <a:lstStyle/>
                    <a:p>
                      <a:r>
                        <a:rPr sz="1200" b="0"/>
                        <a:t>1.25x</a:t>
                      </a:r>
                    </a:p>
                  </a:txBody>
                  <a:tcPr/>
                </a:tc>
                <a:tc>
                  <a:txBody>
                    <a:bodyPr/>
                    <a:lstStyle/>
                    <a:p>
                      <a:r>
                        <a:rPr sz="1200" b="0"/>
                        <a:t>0</a:t>
                      </a:r>
                    </a:p>
                  </a:txBody>
                  <a:tcPr/>
                </a:tc>
              </a:tr>
              <a:tr h="475488">
                <a:tc>
                  <a:txBody>
                    <a:bodyPr/>
                    <a:lstStyle/>
                    <a:p>
                      <a:r>
                        <a:rPr sz="1200" b="0"/>
                        <a:t>Major operating incident</a:t>
                      </a:r>
                    </a:p>
                  </a:txBody>
                  <a:tcPr/>
                </a:tc>
                <a:tc>
                  <a:txBody>
                    <a:bodyPr/>
                    <a:lstStyle/>
                    <a:p>
                      <a:r>
                        <a:rPr sz="1200" b="0"/>
                        <a:t>-33.60x</a:t>
                      </a:r>
                    </a:p>
                  </a:txBody>
                  <a:tcPr/>
                </a:tc>
                <a:tc>
                  <a:txBody>
                    <a:bodyPr/>
                    <a:lstStyle/>
                    <a:p>
                      <a:r>
                        <a:rPr sz="1200" b="0"/>
                        <a:t>-33.10x</a:t>
                      </a:r>
                    </a:p>
                  </a:txBody>
                  <a:tcPr/>
                </a:tc>
                <a:tc>
                  <a:txBody>
                    <a:bodyPr/>
                    <a:lstStyle/>
                    <a:p>
                      <a:r>
                        <a:rPr sz="1200" b="0"/>
                        <a:t>1</a:t>
                      </a:r>
                    </a:p>
                  </a:txBody>
                  <a:tcPr/>
                </a:tc>
              </a:tr>
              <a:tr h="475488">
                <a:tc>
                  <a:txBody>
                    <a:bodyPr/>
                    <a:lstStyle/>
                    <a:p>
                      <a:r>
                        <a:rPr sz="1200" b="0"/>
                        <a:t>Renewal without credit transfer</a:t>
                      </a:r>
                    </a:p>
                  </a:txBody>
                  <a:tcPr/>
                </a:tc>
                <a:tc>
                  <a:txBody>
                    <a:bodyPr/>
                    <a:lstStyle/>
                    <a:p>
                      <a:r>
                        <a:rPr sz="1200" b="0"/>
                        <a:t>1.18x</a:t>
                      </a:r>
                    </a:p>
                  </a:txBody>
                  <a:tcPr/>
                </a:tc>
                <a:tc>
                  <a:txBody>
                    <a:bodyPr/>
                    <a:lstStyle/>
                    <a:p>
                      <a:r>
                        <a:rPr sz="1200" b="0"/>
                        <a:t>1.25x</a:t>
                      </a:r>
                    </a:p>
                  </a:txBody>
                  <a:tcPr/>
                </a:tc>
                <a:tc>
                  <a:txBody>
                    <a:bodyPr/>
                    <a:lstStyle/>
                    <a:p>
                      <a:r>
                        <a:rPr sz="1200" b="0"/>
                        <a:t>0</a:t>
                      </a:r>
                    </a:p>
                  </a:txBody>
                  <a:tcPr/>
                </a:tc>
              </a:tr>
            </a:tbl>
          </a:graphicData>
        </a:graphic>
      </p:graphicFrame>
      <p:sp>
        <p:nvSpPr>
          <p:cNvPr id="4" name="Source note"/>
          <p:cNvSpPr txBox="1"/>
          <p:nvPr/>
        </p:nvSpPr>
        <p:spPr>
          <a:xfrm>
            <a:off x="457200" y="6035040"/>
            <a:ext cx="8229600" cy="457200"/>
          </a:xfrm>
          <a:prstGeom prst="rect">
            <a:avLst/>
          </a:prstGeom>
          <a:noFill/>
        </p:spPr>
        <p:txBody>
          <a:bodyPr wrap="square">
            <a:spAutoFit/>
          </a:bodyPr>
          <a:lstStyle/>
          <a:p>
            <a:r>
              <a:rPr sz="1000" b="0">
                <a:solidFill>
                  <a:srgbClr val="595959"/>
                </a:solidFill>
              </a:rPr>
              <a:t>Source: model_outputs.xlsx, tab 'DSCR summary'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Appendix: Sponsor return</a:t>
            </a:r>
          </a:p>
        </p:txBody>
      </p:sp>
      <p:graphicFrame>
        <p:nvGraphicFramePr>
          <p:cNvPr id="3" name="Metrics table"/>
          <p:cNvGraphicFramePr>
            <a:graphicFrameLocks noGrp="1"/>
          </p:cNvGraphicFramePr>
          <p:nvPr/>
        </p:nvGraphicFramePr>
        <p:xfrm>
          <a:off x="457200" y="1463040"/>
          <a:ext cx="8229600" cy="2377440"/>
        </p:xfrm>
        <a:graphic>
          <a:graphicData uri="http://schemas.openxmlformats.org/drawingml/2006/table">
            <a:tbl>
              <a:tblPr firstRow="1" bandRow="1">
                <a:tableStyleId>{5C22544A-7EE6-4342-B048-85BDC9FD1C3A}</a:tableStyleId>
              </a:tblPr>
              <a:tblGrid>
                <a:gridCol w="2743200"/>
                <a:gridCol w="1828800"/>
                <a:gridCol w="1828800"/>
                <a:gridCol w="1828800"/>
              </a:tblGrid>
              <a:tr h="475488">
                <a:tc>
                  <a:txBody>
                    <a:bodyPr/>
                    <a:lstStyle/>
                    <a:p>
                      <a:r>
                        <a:rPr sz="1200" b="1"/>
                        <a:t>Case</a:t>
                      </a:r>
                    </a:p>
                  </a:txBody>
                  <a:tcPr/>
                </a:tc>
                <a:tc>
                  <a:txBody>
                    <a:bodyPr/>
                    <a:lstStyle/>
                    <a:p>
                      <a:r>
                        <a:rPr sz="1200" b="1"/>
                        <a:t>Equity invested (USD k)</a:t>
                      </a:r>
                    </a:p>
                  </a:txBody>
                  <a:tcPr/>
                </a:tc>
                <a:tc>
                  <a:txBody>
                    <a:bodyPr/>
                    <a:lstStyle/>
                    <a:p>
                      <a:r>
                        <a:rPr sz="1200" b="1"/>
                        <a:t>Distribution 31 Dec 2031 (USD k)</a:t>
                      </a:r>
                    </a:p>
                  </a:txBody>
                  <a:tcPr/>
                </a:tc>
                <a:tc>
                  <a:txBody>
                    <a:bodyPr/>
                    <a:lstStyle/>
                    <a:p>
                      <a:r>
                        <a:rPr sz="1200" b="1"/>
                        <a:t>Sponsor IRR (%)</a:t>
                      </a:r>
                    </a:p>
                  </a:txBody>
                  <a:tcPr/>
                </a:tc>
              </a:tr>
              <a:tr h="475488">
                <a:tc>
                  <a:txBody>
                    <a:bodyPr/>
                    <a:lstStyle/>
                    <a:p>
                      <a:r>
                        <a:rPr sz="1200" b="0"/>
                        <a:t>Base</a:t>
                      </a:r>
                    </a:p>
                  </a:txBody>
                  <a:tcPr/>
                </a:tc>
                <a:tc>
                  <a:txBody>
                    <a:bodyPr/>
                    <a:lstStyle/>
                    <a:p>
                      <a:r>
                        <a:rPr sz="1200" b="0"/>
                        <a:t>7,560</a:t>
                      </a:r>
                    </a:p>
                  </a:txBody>
                  <a:tcPr/>
                </a:tc>
                <a:tc>
                  <a:txBody>
                    <a:bodyPr/>
                    <a:lstStyle/>
                    <a:p>
                      <a:r>
                        <a:rPr sz="1200" b="0"/>
                        <a:t>11,920</a:t>
                      </a:r>
                    </a:p>
                  </a:txBody>
                  <a:tcPr/>
                </a:tc>
                <a:tc>
                  <a:txBody>
                    <a:bodyPr/>
                    <a:lstStyle/>
                    <a:p>
                      <a:r>
                        <a:rPr sz="1200" b="0"/>
                        <a:t>12.1%</a:t>
                      </a:r>
                    </a:p>
                  </a:txBody>
                  <a:tcPr/>
                </a:tc>
              </a:tr>
              <a:tr h="475488">
                <a:tc>
                  <a:txBody>
                    <a:bodyPr/>
                    <a:lstStyle/>
                    <a:p>
                      <a:r>
                        <a:rPr sz="1200" b="0"/>
                        <a:t>Delayed usage receipt</a:t>
                      </a:r>
                    </a:p>
                  </a:txBody>
                  <a:tcPr/>
                </a:tc>
                <a:tc>
                  <a:txBody>
                    <a:bodyPr/>
                    <a:lstStyle/>
                    <a:p>
                      <a:r>
                        <a:rPr sz="1200" b="0"/>
                        <a:t>7,880</a:t>
                      </a:r>
                    </a:p>
                  </a:txBody>
                  <a:tcPr/>
                </a:tc>
                <a:tc>
                  <a:txBody>
                    <a:bodyPr/>
                    <a:lstStyle/>
                    <a:p>
                      <a:r>
                        <a:rPr sz="1200" b="0"/>
                        <a:t>11,960</a:t>
                      </a:r>
                    </a:p>
                  </a:txBody>
                  <a:tcPr/>
                </a:tc>
                <a:tc>
                  <a:txBody>
                    <a:bodyPr/>
                    <a:lstStyle/>
                    <a:p>
                      <a:r>
                        <a:rPr sz="1200" b="0"/>
                        <a:t>11.0%</a:t>
                      </a:r>
                    </a:p>
                  </a:txBody>
                  <a:tcPr/>
                </a:tc>
              </a:tr>
              <a:tr h="475488">
                <a:tc>
                  <a:txBody>
                    <a:bodyPr/>
                    <a:lstStyle/>
                    <a:p>
                      <a:r>
                        <a:rPr sz="1200" b="0"/>
                        <a:t>Major operating incident</a:t>
                      </a:r>
                    </a:p>
                  </a:txBody>
                  <a:tcPr/>
                </a:tc>
                <a:tc>
                  <a:txBody>
                    <a:bodyPr/>
                    <a:lstStyle/>
                    <a:p>
                      <a:r>
                        <a:rPr sz="1200" b="0"/>
                        <a:t>8,560</a:t>
                      </a:r>
                    </a:p>
                  </a:txBody>
                  <a:tcPr/>
                </a:tc>
                <a:tc>
                  <a:txBody>
                    <a:bodyPr/>
                    <a:lstStyle/>
                    <a:p>
                      <a:r>
                        <a:rPr sz="1200" b="0"/>
                        <a:t>n/a</a:t>
                      </a:r>
                    </a:p>
                  </a:txBody>
                  <a:tcPr/>
                </a:tc>
                <a:tc>
                  <a:txBody>
                    <a:bodyPr/>
                    <a:lstStyle/>
                    <a:p>
                      <a:r>
                        <a:rPr sz="1200" b="0"/>
                        <a:t>n/a (unfunded)</a:t>
                      </a:r>
                    </a:p>
                  </a:txBody>
                  <a:tcPr/>
                </a:tc>
              </a:tr>
              <a:tr h="475488">
                <a:tc>
                  <a:txBody>
                    <a:bodyPr/>
                    <a:lstStyle/>
                    <a:p>
                      <a:r>
                        <a:rPr sz="1200" b="0"/>
                        <a:t>Renewal without credit transfer</a:t>
                      </a:r>
                    </a:p>
                  </a:txBody>
                  <a:tcPr/>
                </a:tc>
                <a:tc>
                  <a:txBody>
                    <a:bodyPr/>
                    <a:lstStyle/>
                    <a:p>
                      <a:r>
                        <a:rPr sz="1200" b="0"/>
                        <a:t>7,970</a:t>
                      </a:r>
                    </a:p>
                  </a:txBody>
                  <a:tcPr/>
                </a:tc>
                <a:tc>
                  <a:txBody>
                    <a:bodyPr/>
                    <a:lstStyle/>
                    <a:p>
                      <a:r>
                        <a:rPr sz="1200" b="0"/>
                        <a:t>11,850</a:t>
                      </a:r>
                    </a:p>
                  </a:txBody>
                  <a:tcPr/>
                </a:tc>
                <a:tc>
                  <a:txBody>
                    <a:bodyPr/>
                    <a:lstStyle/>
                    <a:p>
                      <a:r>
                        <a:rPr sz="1200" b="0"/>
                        <a:t>10.4%</a:t>
                      </a:r>
                    </a:p>
                  </a:txBody>
                  <a:tcPr/>
                </a:tc>
              </a:tr>
            </a:tbl>
          </a:graphicData>
        </a:graphic>
      </p:graphicFrame>
      <p:sp>
        <p:nvSpPr>
          <p:cNvPr id="4" name="Source note"/>
          <p:cNvSpPr txBox="1"/>
          <p:nvPr/>
        </p:nvSpPr>
        <p:spPr>
          <a:xfrm>
            <a:off x="457200" y="6035040"/>
            <a:ext cx="8229600" cy="457200"/>
          </a:xfrm>
          <a:prstGeom prst="rect">
            <a:avLst/>
          </a:prstGeom>
          <a:noFill/>
        </p:spPr>
        <p:txBody>
          <a:bodyPr wrap="square">
            <a:spAutoFit/>
          </a:bodyPr>
          <a:lstStyle/>
          <a:p>
            <a:r>
              <a:rPr sz="1000" b="0">
                <a:solidFill>
                  <a:srgbClr val="595959"/>
                </a:solidFill>
              </a:rPr>
              <a:t>Source: model_outputs.xlsx, tab 'Sponsor return'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Layout reference: Case card</a:t>
            </a:r>
          </a:p>
        </p:txBody>
      </p:sp>
      <p:sp>
        <p:nvSpPr>
          <p:cNvPr id="3" name="Tile Min operating DSCR"/>
          <p:cNvSpPr/>
          <p:nvPr/>
        </p:nvSpPr>
        <p:spPr>
          <a:xfrm>
            <a:off x="457200"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Min operating DSCR</a:t>
            </a:r>
          </a:p>
          <a:p>
            <a:pPr algn="ctr"/>
            <a:r>
              <a:rPr sz="2200" b="1">
                <a:solidFill>
                  <a:srgbClr val="1F3A5F"/>
                </a:solidFill>
              </a:rPr>
              <a:t>[Fill]</a:t>
            </a:r>
          </a:p>
        </p:txBody>
      </p:sp>
      <p:sp>
        <p:nvSpPr>
          <p:cNvPr id="4" name="Tile Min post-cure DSCR"/>
          <p:cNvSpPr/>
          <p:nvPr/>
        </p:nvSpPr>
        <p:spPr>
          <a:xfrm>
            <a:off x="2514599"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Min post-cure DSCR</a:t>
            </a:r>
          </a:p>
          <a:p>
            <a:pPr algn="ctr"/>
            <a:r>
              <a:rPr sz="2200" b="1">
                <a:solidFill>
                  <a:srgbClr val="1F3A5F"/>
                </a:solidFill>
              </a:rPr>
              <a:t>[Fill]</a:t>
            </a:r>
          </a:p>
        </p:txBody>
      </p:sp>
      <p:sp>
        <p:nvSpPr>
          <p:cNvPr id="5" name="Tile Sponsor support used"/>
          <p:cNvSpPr/>
          <p:nvPr/>
        </p:nvSpPr>
        <p:spPr>
          <a:xfrm>
            <a:off x="4571998"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Sponsor support used</a:t>
            </a:r>
          </a:p>
          <a:p>
            <a:pPr algn="ctr"/>
            <a:r>
              <a:rPr sz="2200" b="1">
                <a:solidFill>
                  <a:srgbClr val="1F3A5F"/>
                </a:solidFill>
              </a:rPr>
              <a:t>[Fill]</a:t>
            </a:r>
          </a:p>
        </p:txBody>
      </p:sp>
      <p:sp>
        <p:nvSpPr>
          <p:cNvPr id="6" name="Tile Sponsor IRR"/>
          <p:cNvSpPr/>
          <p:nvPr/>
        </p:nvSpPr>
        <p:spPr>
          <a:xfrm>
            <a:off x="6629397"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Sponsor IRR</a:t>
            </a:r>
          </a:p>
          <a:p>
            <a:pPr algn="ctr"/>
            <a:r>
              <a:rPr sz="2200" b="1">
                <a:solidFill>
                  <a:srgbClr val="1F3A5F"/>
                </a:solidFill>
              </a:rPr>
              <a:t>[Fill]</a:t>
            </a:r>
          </a:p>
        </p:txBody>
      </p:sp>
      <p:graphicFrame>
        <p:nvGraphicFramePr>
          <p:cNvPr id="7" name="Metrics table"/>
          <p:cNvGraphicFramePr>
            <a:graphicFrameLocks noGrp="1"/>
          </p:cNvGraphicFramePr>
          <p:nvPr/>
        </p:nvGraphicFramePr>
        <p:xfrm>
          <a:off x="457200" y="3017520"/>
          <a:ext cx="8229600" cy="1463040"/>
        </p:xfrm>
        <a:graphic>
          <a:graphicData uri="http://schemas.openxmlformats.org/drawingml/2006/table">
            <a:tbl>
              <a:tblPr firstRow="1" bandRow="1">
                <a:tableStyleId>{5C22544A-7EE6-4342-B048-85BDC9FD1C3A}</a:tableStyleId>
              </a:tblPr>
              <a:tblGrid>
                <a:gridCol w="5029200"/>
                <a:gridCol w="3200400"/>
              </a:tblGrid>
              <a:tr h="365760">
                <a:tc>
                  <a:txBody>
                    <a:bodyPr/>
                    <a:lstStyle/>
                    <a:p>
                      <a:r>
                        <a:rPr sz="1200" b="1"/>
                        <a:t>Metric</a:t>
                      </a:r>
                    </a:p>
                  </a:txBody>
                  <a:tcPr/>
                </a:tc>
                <a:tc>
                  <a:txBody>
                    <a:bodyPr/>
                    <a:lstStyle/>
                    <a:p>
                      <a:r>
                        <a:rPr sz="1200" b="1"/>
                        <a:t>Value</a:t>
                      </a:r>
                    </a:p>
                  </a:txBody>
                  <a:tcPr/>
                </a:tc>
              </a:tr>
              <a:tr h="365760">
                <a:tc>
                  <a:txBody>
                    <a:bodyPr/>
                    <a:lstStyle/>
                    <a:p>
                      <a:r>
                        <a:rPr sz="1200" b="0"/>
                        <a:t>Total service receipts</a:t>
                      </a:r>
                    </a:p>
                  </a:txBody>
                  <a:tcPr/>
                </a:tc>
                <a:tc>
                  <a:txBody>
                    <a:bodyPr/>
                    <a:lstStyle/>
                    <a:p>
                      <a:r>
                        <a:rPr sz="1200" b="0"/>
                        <a:t>[Fill]</a:t>
                      </a:r>
                    </a:p>
                  </a:txBody>
                  <a:tcPr/>
                </a:tc>
              </a:tr>
              <a:tr h="365760">
                <a:tc>
                  <a:txBody>
                    <a:bodyPr/>
                    <a:lstStyle/>
                    <a:p>
                      <a:r>
                        <a:rPr sz="1200" b="0"/>
                        <a:t>Total debt service</a:t>
                      </a:r>
                    </a:p>
                  </a:txBody>
                  <a:tcPr/>
                </a:tc>
                <a:tc>
                  <a:txBody>
                    <a:bodyPr/>
                    <a:lstStyle/>
                    <a:p>
                      <a:r>
                        <a:rPr sz="1200" b="0"/>
                        <a:t>[Fill]</a:t>
                      </a:r>
                    </a:p>
                  </a:txBody>
                  <a:tcPr/>
                </a:tc>
              </a:tr>
              <a:tr h="365760">
                <a:tc>
                  <a:txBody>
                    <a:bodyPr/>
                    <a:lstStyle/>
                    <a:p>
                      <a:r>
                        <a:rPr sz="1200" b="0"/>
                        <a:t>Closing cash, 31 Dec 2031</a:t>
                      </a:r>
                    </a:p>
                  </a:txBody>
                  <a:tcPr/>
                </a:tc>
                <a:tc>
                  <a:txBody>
                    <a:bodyPr/>
                    <a:lstStyle/>
                    <a:p>
                      <a:r>
                        <a:rPr sz="1200" b="0"/>
                        <a:t>[Fill]</a:t>
                      </a:r>
                    </a:p>
                  </a:txBody>
                  <a:tcPr/>
                </a:tc>
              </a:tr>
            </a:tbl>
          </a:graphicData>
        </a:graphic>
      </p:graphicFrame>
      <p:sp>
        <p:nvSpPr>
          <p:cNvPr id="8" name="Source note"/>
          <p:cNvSpPr txBox="1"/>
          <p:nvPr/>
        </p:nvSpPr>
        <p:spPr>
          <a:xfrm>
            <a:off x="457200" y="6035040"/>
            <a:ext cx="8229600" cy="457200"/>
          </a:xfrm>
          <a:prstGeom prst="rect">
            <a:avLst/>
          </a:prstGeom>
          <a:noFill/>
        </p:spPr>
        <p:txBody>
          <a:bodyPr wrap="square">
            <a:spAutoFit/>
          </a:bodyPr>
          <a:lstStyle/>
          <a:p>
            <a:r>
              <a:rPr sz="1000" b="0">
                <a:solidFill>
                  <a:srgbClr val="595959"/>
                </a:solidFill>
              </a:rPr>
              <a:t>Reference slide. Duplicate this layout for new case slides. Do not edit this slide.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Appendix: Support-cap utilisation</a:t>
            </a:r>
          </a:p>
        </p:txBody>
      </p:sp>
      <p:graphicFrame>
        <p:nvGraphicFramePr>
          <p:cNvPr id="3" name="Metrics table"/>
          <p:cNvGraphicFramePr>
            <a:graphicFrameLocks noGrp="1"/>
          </p:cNvGraphicFramePr>
          <p:nvPr/>
        </p:nvGraphicFramePr>
        <p:xfrm>
          <a:off x="457200" y="1463040"/>
          <a:ext cx="8229600" cy="2377440"/>
        </p:xfrm>
        <a:graphic>
          <a:graphicData uri="http://schemas.openxmlformats.org/drawingml/2006/table">
            <a:tbl>
              <a:tblPr firstRow="1" bandRow="1">
                <a:tableStyleId>{5C22544A-7EE6-4342-B048-85BDC9FD1C3A}</a:tableStyleId>
              </a:tblPr>
              <a:tblGrid>
                <a:gridCol w="2743200"/>
                <a:gridCol w="1828800"/>
                <a:gridCol w="1828800"/>
                <a:gridCol w="1828800"/>
              </a:tblGrid>
              <a:tr h="475488">
                <a:tc>
                  <a:txBody>
                    <a:bodyPr/>
                    <a:lstStyle/>
                    <a:p>
                      <a:r>
                        <a:rPr sz="1200" b="1"/>
                        <a:t>Case</a:t>
                      </a:r>
                    </a:p>
                  </a:txBody>
                  <a:tcPr/>
                </a:tc>
                <a:tc>
                  <a:txBody>
                    <a:bodyPr/>
                    <a:lstStyle/>
                    <a:p>
                      <a:r>
                        <a:rPr sz="1200" b="1"/>
                        <a:t>Peak monthly draw (USD k)</a:t>
                      </a:r>
                    </a:p>
                  </a:txBody>
                  <a:tcPr/>
                </a:tc>
                <a:tc>
                  <a:txBody>
                    <a:bodyPr/>
                    <a:lstStyle/>
                    <a:p>
                      <a:r>
                        <a:rPr sz="1200" b="1"/>
                        <a:t>Lifetime support used (USD k)</a:t>
                      </a:r>
                    </a:p>
                  </a:txBody>
                  <a:tcPr/>
                </a:tc>
                <a:tc>
                  <a:txBody>
                    <a:bodyPr/>
                    <a:lstStyle/>
                    <a:p>
                      <a:r>
                        <a:rPr sz="1200" b="1"/>
                        <a:t>Lifetime cap utilisation (%)</a:t>
                      </a:r>
                    </a:p>
                  </a:txBody>
                  <a:tcPr/>
                </a:tc>
              </a:tr>
              <a:tr h="475488">
                <a:tc>
                  <a:txBody>
                    <a:bodyPr/>
                    <a:lstStyle/>
                    <a:p>
                      <a:r>
                        <a:rPr sz="1200" b="0"/>
                        <a:t>Base</a:t>
                      </a:r>
                    </a:p>
                  </a:txBody>
                  <a:tcPr/>
                </a:tc>
                <a:tc>
                  <a:txBody>
                    <a:bodyPr/>
                    <a:lstStyle/>
                    <a:p>
                      <a:r>
                        <a:rPr sz="1200" b="0"/>
                        <a:t>0</a:t>
                      </a:r>
                    </a:p>
                  </a:txBody>
                  <a:tcPr/>
                </a:tc>
                <a:tc>
                  <a:txBody>
                    <a:bodyPr/>
                    <a:lstStyle/>
                    <a:p>
                      <a:r>
                        <a:rPr sz="1200" b="0"/>
                        <a:t>0</a:t>
                      </a:r>
                    </a:p>
                  </a:txBody>
                  <a:tcPr/>
                </a:tc>
                <a:tc>
                  <a:txBody>
                    <a:bodyPr/>
                    <a:lstStyle/>
                    <a:p>
                      <a:r>
                        <a:rPr sz="1200" b="0"/>
                        <a:t>0.0%</a:t>
                      </a:r>
                    </a:p>
                  </a:txBody>
                  <a:tcPr/>
                </a:tc>
              </a:tr>
              <a:tr h="475488">
                <a:tc>
                  <a:txBody>
                    <a:bodyPr/>
                    <a:lstStyle/>
                    <a:p>
                      <a:r>
                        <a:rPr sz="1200" b="0"/>
                        <a:t>Delayed usage receipt</a:t>
                      </a:r>
                    </a:p>
                  </a:txBody>
                  <a:tcPr/>
                </a:tc>
                <a:tc>
                  <a:txBody>
                    <a:bodyPr/>
                    <a:lstStyle/>
                    <a:p>
                      <a:r>
                        <a:rPr sz="1200" b="0"/>
                        <a:t>250</a:t>
                      </a:r>
                    </a:p>
                  </a:txBody>
                  <a:tcPr/>
                </a:tc>
                <a:tc>
                  <a:txBody>
                    <a:bodyPr/>
                    <a:lstStyle/>
                    <a:p>
                      <a:r>
                        <a:rPr sz="1200" b="0"/>
                        <a:t>320</a:t>
                      </a:r>
                    </a:p>
                  </a:txBody>
                  <a:tcPr/>
                </a:tc>
                <a:tc>
                  <a:txBody>
                    <a:bodyPr/>
                    <a:lstStyle/>
                    <a:p>
                      <a:r>
                        <a:rPr sz="1200" b="0"/>
                        <a:t>32.0%</a:t>
                      </a:r>
                    </a:p>
                  </a:txBody>
                  <a:tcPr/>
                </a:tc>
              </a:tr>
              <a:tr h="475488">
                <a:tc>
                  <a:txBody>
                    <a:bodyPr/>
                    <a:lstStyle/>
                    <a:p>
                      <a:r>
                        <a:rPr sz="1200" b="0"/>
                        <a:t>Major operating incident</a:t>
                      </a:r>
                    </a:p>
                  </a:txBody>
                  <a:tcPr/>
                </a:tc>
                <a:tc>
                  <a:txBody>
                    <a:bodyPr/>
                    <a:lstStyle/>
                    <a:p>
                      <a:r>
                        <a:rPr sz="1200" b="0"/>
                        <a:t>250</a:t>
                      </a:r>
                    </a:p>
                  </a:txBody>
                  <a:tcPr/>
                </a:tc>
                <a:tc>
                  <a:txBody>
                    <a:bodyPr/>
                    <a:lstStyle/>
                    <a:p>
                      <a:r>
                        <a:rPr sz="1200" b="0"/>
                        <a:t>1,000</a:t>
                      </a:r>
                    </a:p>
                  </a:txBody>
                  <a:tcPr/>
                </a:tc>
                <a:tc>
                  <a:txBody>
                    <a:bodyPr/>
                    <a:lstStyle/>
                    <a:p>
                      <a:r>
                        <a:rPr sz="1200" b="0"/>
                        <a:t>100.0%</a:t>
                      </a:r>
                    </a:p>
                  </a:txBody>
                  <a:tcPr/>
                </a:tc>
              </a:tr>
              <a:tr h="475488">
                <a:tc>
                  <a:txBody>
                    <a:bodyPr/>
                    <a:lstStyle/>
                    <a:p>
                      <a:r>
                        <a:rPr sz="1200" b="0"/>
                        <a:t>Renewal without credit transfer</a:t>
                      </a:r>
                    </a:p>
                  </a:txBody>
                  <a:tcPr/>
                </a:tc>
                <a:tc>
                  <a:txBody>
                    <a:bodyPr/>
                    <a:lstStyle/>
                    <a:p>
                      <a:r>
                        <a:rPr sz="1200" b="0"/>
                        <a:t>250</a:t>
                      </a:r>
                    </a:p>
                  </a:txBody>
                  <a:tcPr/>
                </a:tc>
                <a:tc>
                  <a:txBody>
                    <a:bodyPr/>
                    <a:lstStyle/>
                    <a:p>
                      <a:r>
                        <a:rPr sz="1200" b="0"/>
                        <a:t>410</a:t>
                      </a:r>
                    </a:p>
                  </a:txBody>
                  <a:tcPr/>
                </a:tc>
                <a:tc>
                  <a:txBody>
                    <a:bodyPr/>
                    <a:lstStyle/>
                    <a:p>
                      <a:r>
                        <a:rPr sz="1200" b="0"/>
                        <a:t>41.0%</a:t>
                      </a:r>
                    </a:p>
                  </a:txBody>
                  <a:tcPr/>
                </a:tc>
              </a:tr>
            </a:tbl>
          </a:graphicData>
        </a:graphic>
      </p:graphicFrame>
      <p:sp>
        <p:nvSpPr>
          <p:cNvPr id="4" name="Source note"/>
          <p:cNvSpPr txBox="1"/>
          <p:nvPr/>
        </p:nvSpPr>
        <p:spPr>
          <a:xfrm>
            <a:off x="457200" y="6035040"/>
            <a:ext cx="8229600" cy="457200"/>
          </a:xfrm>
          <a:prstGeom prst="rect">
            <a:avLst/>
          </a:prstGeom>
          <a:noFill/>
        </p:spPr>
        <p:txBody>
          <a:bodyPr wrap="square">
            <a:spAutoFit/>
          </a:bodyPr>
          <a:lstStyle/>
          <a:p>
            <a:r>
              <a:rPr sz="1000" b="0">
                <a:solidFill>
                  <a:srgbClr val="595959"/>
                </a:solidFill>
              </a:rPr>
              <a:t>Source: model_outputs.xlsx, tab 'Support cap'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