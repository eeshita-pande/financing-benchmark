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Investment committee pack for the Northstar Compute GPU infrastructure financing.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through the agenda briefly. The case list mirrors the order of the case slides in the deck.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Headline messages. Figures are fictional illustrative model outputs.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Three of the four modelled cases are presented in this version of the deck.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Case 1 headline metrics from the Case summary tab.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Case 2 headline metrics from the Case summary tab.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Case 3 headline metrics from the Case summary tab.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Section convention: a sensitivity slide is placed directly after the slide it sensitises, never at the end of the section.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Covenant mechanics and results. Operating ratio and post-cure ratio are shown separately on the case cards.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Sources and uses on the funding date.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Recommendation to the committee.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with the decisions requested and next steps.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Schedules are drawn directly from the frozen workbook; no figures are recalculated in this deck.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DSCR schedule per case.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Sponsor return schedule per case.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Locked reference slide. Keep it as the last slide of the deck.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as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chedu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3"/>
    <p:sldLayoutId id="2147483661" r:id="rId14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Northstar Compute: hardware financing and customer arrangements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Investment committee pack. Fictional illustrative figures.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800"/>
              <a:t>1. Executive summary</a:t>
            </a:r>
          </a:p>
          <a:p>
            <a:pPr/>
            <a:r>
              <a:rPr sz="1800"/>
              <a:t>2. Cases</a:t>
            </a:r>
          </a:p>
          <a:p>
            <a:pPr lvl="1"/>
            <a:r>
              <a:rPr sz="1600"/>
              <a:t>Case 1 — Base</a:t>
            </a:r>
          </a:p>
          <a:p>
            <a:pPr lvl="1"/>
            <a:r>
              <a:rPr sz="1600"/>
              <a:t>Case 2 — Delayed usage receipt</a:t>
            </a:r>
          </a:p>
          <a:p>
            <a:pPr lvl="1"/>
            <a:r>
              <a:rPr sz="1600"/>
              <a:t>Case 3 — Major operating incident</a:t>
            </a:r>
          </a:p>
          <a:p>
            <a:pPr/>
            <a:r>
              <a:rPr sz="1800"/>
              <a:t>3. Financing and covenant</a:t>
            </a:r>
          </a:p>
          <a:p>
            <a:pPr/>
            <a:r>
              <a:rPr sz="1800"/>
              <a:t>4. Recommendation</a:t>
            </a:r>
          </a:p>
          <a:p>
            <a:pPr/>
            <a:r>
              <a:rPr sz="1800"/>
              <a:t>5. Closing</a:t>
            </a:r>
          </a:p>
          <a:p>
            <a:pPr/>
            <a:r>
              <a:rPr sz="1800"/>
              <a:t>Appendix: supporting schedules</a:t>
            </a:r>
          </a:p>
        </p:txBody>
      </p:sp>
      <p:sp>
        <p:nvSpPr>
          <p:cNvPr id="4" name="Agenda footnote"/>
          <p:cNvSpPr txBox="1"/>
          <p:nvPr/>
        </p:nvSpPr>
        <p:spPr>
          <a:xfrm>
            <a:off x="457200" y="603504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595959"/>
                </a:solidFill>
              </a:rPr>
              <a:t>All figures are fictional illustrative outputs of the Northstar Compute model (model_outputs.xlsx).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Executive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800"/>
              <a:t>Helix Research anchor contract and USD 20.0m hardware financing commence 1 January 2028.</a:t>
            </a:r>
          </a:p>
          <a:p>
            <a:pPr/>
            <a:r>
              <a:rPr sz="1800"/>
              <a:t>Base case meets the 1.25x monthly DSCR covenant in every tested month without sponsor support.</a:t>
            </a:r>
          </a:p>
          <a:p>
            <a:pPr/>
            <a:r>
              <a:rPr sz="1800"/>
              <a:t>Delayed usage receipt needs USD 320k of sponsor support over two months; the cure restores the covenant.</a:t>
            </a:r>
          </a:p>
          <a:p>
            <a:pPr/>
            <a:r>
              <a:rPr sz="1800"/>
              <a:t>Major operating incident exhausts the USD 1.0m support cap and leaves an unresolved breach.</a:t>
            </a:r>
          </a:p>
          <a:p>
            <a:pPr/>
            <a:r>
              <a:rPr sz="1800"/>
              <a:t>Sponsor IRR ranges from 10.4% to 12.1% across the funded cases.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Cases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rPr sz="1800"/>
              <a:t>Each case changes only the fields shown in the Cases tab of the source workbook; prices, service obligations and the financing commitments are fixed.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Case 1 — Base</a:t>
            </a:r>
          </a:p>
        </p:txBody>
      </p:sp>
      <p:sp>
        <p:nvSpPr>
          <p:cNvPr id="3" name="Tile Min operating DSCR"/>
          <p:cNvSpPr/>
          <p:nvPr/>
        </p:nvSpPr>
        <p:spPr>
          <a:xfrm>
            <a:off x="457200" y="1463040"/>
            <a:ext cx="1874519" cy="1188720"/>
          </a:xfrm>
          <a:prstGeom prst="roundRect">
            <a:avLst/>
          </a:prstGeom>
          <a:solidFill>
            <a:srgbClr val="E8EEF5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>
                <a:solidFill>
                  <a:srgbClr val="595959"/>
                </a:solidFill>
              </a:rPr>
              <a:t>Min operating DSCR</a:t>
            </a:r>
          </a:p>
          <a:p>
            <a:pPr algn="ctr"/>
            <a:r>
              <a:rPr sz="2200" b="1">
                <a:solidFill>
                  <a:srgbClr val="1F3A5F"/>
                </a:solidFill>
              </a:rPr>
              <a:t>1.31x</a:t>
            </a:r>
          </a:p>
        </p:txBody>
      </p:sp>
      <p:sp>
        <p:nvSpPr>
          <p:cNvPr id="4" name="Tile Min post-cure DSCR"/>
          <p:cNvSpPr/>
          <p:nvPr/>
        </p:nvSpPr>
        <p:spPr>
          <a:xfrm>
            <a:off x="2514599" y="1463040"/>
            <a:ext cx="1874519" cy="1188720"/>
          </a:xfrm>
          <a:prstGeom prst="roundRect">
            <a:avLst/>
          </a:prstGeom>
          <a:solidFill>
            <a:srgbClr val="E8EEF5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>
                <a:solidFill>
                  <a:srgbClr val="595959"/>
                </a:solidFill>
              </a:rPr>
              <a:t>Min post-cure DSCR</a:t>
            </a:r>
          </a:p>
          <a:p>
            <a:pPr algn="ctr"/>
            <a:r>
              <a:rPr sz="2200" b="1">
                <a:solidFill>
                  <a:srgbClr val="1F3A5F"/>
                </a:solidFill>
              </a:rPr>
              <a:t>1.31x</a:t>
            </a:r>
          </a:p>
        </p:txBody>
      </p:sp>
      <p:sp>
        <p:nvSpPr>
          <p:cNvPr id="5" name="Tile Sponsor support used"/>
          <p:cNvSpPr/>
          <p:nvPr/>
        </p:nvSpPr>
        <p:spPr>
          <a:xfrm>
            <a:off x="4571998" y="1463040"/>
            <a:ext cx="1874519" cy="1188720"/>
          </a:xfrm>
          <a:prstGeom prst="roundRect">
            <a:avLst/>
          </a:prstGeom>
          <a:solidFill>
            <a:srgbClr val="E8EEF5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>
                <a:solidFill>
                  <a:srgbClr val="595959"/>
                </a:solidFill>
              </a:rPr>
              <a:t>Sponsor support used</a:t>
            </a:r>
          </a:p>
          <a:p>
            <a:pPr algn="ctr"/>
            <a:r>
              <a:rPr sz="2200" b="1">
                <a:solidFill>
                  <a:srgbClr val="1F3A5F"/>
                </a:solidFill>
              </a:rPr>
              <a:t>USD 0k</a:t>
            </a:r>
          </a:p>
        </p:txBody>
      </p:sp>
      <p:sp>
        <p:nvSpPr>
          <p:cNvPr id="6" name="Tile Sponsor IRR"/>
          <p:cNvSpPr/>
          <p:nvPr/>
        </p:nvSpPr>
        <p:spPr>
          <a:xfrm>
            <a:off x="6629397" y="1463040"/>
            <a:ext cx="1874519" cy="1188720"/>
          </a:xfrm>
          <a:prstGeom prst="roundRect">
            <a:avLst/>
          </a:prstGeom>
          <a:solidFill>
            <a:srgbClr val="E8EEF5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>
                <a:solidFill>
                  <a:srgbClr val="595959"/>
                </a:solidFill>
              </a:rPr>
              <a:t>Sponsor IRR</a:t>
            </a:r>
          </a:p>
          <a:p>
            <a:pPr algn="ctr"/>
            <a:r>
              <a:rPr sz="2200" b="1">
                <a:solidFill>
                  <a:srgbClr val="1F3A5F"/>
                </a:solidFill>
              </a:rPr>
              <a:t>12.1%</a:t>
            </a:r>
          </a:p>
        </p:txBody>
      </p:sp>
      <p:graphicFrame>
        <p:nvGraphicFramePr>
          <p:cNvPr id="7" name="Metrics table"/>
          <p:cNvGraphicFramePr>
            <a:graphicFrameLocks noGrp="1"/>
          </p:cNvGraphicFramePr>
          <p:nvPr/>
        </p:nvGraphicFramePr>
        <p:xfrm>
          <a:off x="457200" y="3017520"/>
          <a:ext cx="822960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29200"/>
                <a:gridCol w="3200400"/>
              </a:tblGrid>
              <a:tr h="365760">
                <a:tc>
                  <a:txBody>
                    <a:bodyPr/>
                    <a:lstStyle/>
                    <a:p>
                      <a:r>
                        <a:rPr sz="1200" b="1"/>
                        <a:t>Metric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/>
                        <a:t>Value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/>
                        <a:t>Total service receipts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USD 59.4m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/>
                        <a:t>Total debt service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USD 16.4m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/>
                        <a:t>Closing cash, 31 Dec 2031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USD 9.7m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8" name="Source note"/>
          <p:cNvSpPr txBox="1"/>
          <p:nvPr/>
        </p:nvSpPr>
        <p:spPr>
          <a:xfrm>
            <a:off x="457200" y="603504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595959"/>
                </a:solidFill>
              </a:rPr>
              <a:t>Source: model_outputs.xlsx, tab 'Case summary'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Case 2 — Delayed usage receipt</a:t>
            </a:r>
          </a:p>
        </p:txBody>
      </p:sp>
      <p:sp>
        <p:nvSpPr>
          <p:cNvPr id="3" name="Tile Min operating DSCR"/>
          <p:cNvSpPr/>
          <p:nvPr/>
        </p:nvSpPr>
        <p:spPr>
          <a:xfrm>
            <a:off x="457200" y="1463040"/>
            <a:ext cx="1874519" cy="1188720"/>
          </a:xfrm>
          <a:prstGeom prst="roundRect">
            <a:avLst/>
          </a:prstGeom>
          <a:solidFill>
            <a:srgbClr val="E8EEF5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>
                <a:solidFill>
                  <a:srgbClr val="595959"/>
                </a:solidFill>
              </a:rPr>
              <a:t>Min operating DSCR</a:t>
            </a:r>
          </a:p>
          <a:p>
            <a:pPr algn="ctr"/>
            <a:r>
              <a:rPr sz="2200" b="1">
                <a:solidFill>
                  <a:srgbClr val="1F3A5F"/>
                </a:solidFill>
              </a:rPr>
              <a:t>0.62x</a:t>
            </a:r>
          </a:p>
        </p:txBody>
      </p:sp>
      <p:sp>
        <p:nvSpPr>
          <p:cNvPr id="4" name="Tile Min post-cure DSCR"/>
          <p:cNvSpPr/>
          <p:nvPr/>
        </p:nvSpPr>
        <p:spPr>
          <a:xfrm>
            <a:off x="2514599" y="1463040"/>
            <a:ext cx="1874519" cy="1188720"/>
          </a:xfrm>
          <a:prstGeom prst="roundRect">
            <a:avLst/>
          </a:prstGeom>
          <a:solidFill>
            <a:srgbClr val="E8EEF5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>
                <a:solidFill>
                  <a:srgbClr val="595959"/>
                </a:solidFill>
              </a:rPr>
              <a:t>Min post-cure DSCR</a:t>
            </a:r>
          </a:p>
          <a:p>
            <a:pPr algn="ctr"/>
            <a:r>
              <a:rPr sz="2200" b="1">
                <a:solidFill>
                  <a:srgbClr val="1F3A5F"/>
                </a:solidFill>
              </a:rPr>
              <a:t>1.25x</a:t>
            </a:r>
          </a:p>
        </p:txBody>
      </p:sp>
      <p:sp>
        <p:nvSpPr>
          <p:cNvPr id="5" name="Tile Sponsor support used"/>
          <p:cNvSpPr/>
          <p:nvPr/>
        </p:nvSpPr>
        <p:spPr>
          <a:xfrm>
            <a:off x="4571998" y="1463040"/>
            <a:ext cx="1874519" cy="1188720"/>
          </a:xfrm>
          <a:prstGeom prst="roundRect">
            <a:avLst/>
          </a:prstGeom>
          <a:solidFill>
            <a:srgbClr val="E8EEF5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>
                <a:solidFill>
                  <a:srgbClr val="595959"/>
                </a:solidFill>
              </a:rPr>
              <a:t>Sponsor support used</a:t>
            </a:r>
          </a:p>
          <a:p>
            <a:pPr algn="ctr"/>
            <a:r>
              <a:rPr sz="2200" b="1">
                <a:solidFill>
                  <a:srgbClr val="1F3A5F"/>
                </a:solidFill>
              </a:rPr>
              <a:t>USD 320k</a:t>
            </a:r>
          </a:p>
        </p:txBody>
      </p:sp>
      <p:sp>
        <p:nvSpPr>
          <p:cNvPr id="6" name="Tile Sponsor IRR"/>
          <p:cNvSpPr/>
          <p:nvPr/>
        </p:nvSpPr>
        <p:spPr>
          <a:xfrm>
            <a:off x="6629397" y="1463040"/>
            <a:ext cx="1874519" cy="1188720"/>
          </a:xfrm>
          <a:prstGeom prst="roundRect">
            <a:avLst/>
          </a:prstGeom>
          <a:solidFill>
            <a:srgbClr val="E8EEF5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>
                <a:solidFill>
                  <a:srgbClr val="595959"/>
                </a:solidFill>
              </a:rPr>
              <a:t>Sponsor IRR</a:t>
            </a:r>
          </a:p>
          <a:p>
            <a:pPr algn="ctr"/>
            <a:r>
              <a:rPr sz="2200" b="1">
                <a:solidFill>
                  <a:srgbClr val="1F3A5F"/>
                </a:solidFill>
              </a:rPr>
              <a:t>11.0%</a:t>
            </a:r>
          </a:p>
        </p:txBody>
      </p:sp>
      <p:graphicFrame>
        <p:nvGraphicFramePr>
          <p:cNvPr id="7" name="Metrics table"/>
          <p:cNvGraphicFramePr>
            <a:graphicFrameLocks noGrp="1"/>
          </p:cNvGraphicFramePr>
          <p:nvPr/>
        </p:nvGraphicFramePr>
        <p:xfrm>
          <a:off x="457200" y="3017520"/>
          <a:ext cx="822960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29200"/>
                <a:gridCol w="3200400"/>
              </a:tblGrid>
              <a:tr h="365760">
                <a:tc>
                  <a:txBody>
                    <a:bodyPr/>
                    <a:lstStyle/>
                    <a:p>
                      <a:r>
                        <a:rPr sz="1200" b="1"/>
                        <a:t>Metric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/>
                        <a:t>Value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/>
                        <a:t>Total service receipts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USD 59.4m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/>
                        <a:t>Total debt service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USD 16.4m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/>
                        <a:t>Closing cash, 31 Dec 2031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USD 9.4m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8" name="Source note"/>
          <p:cNvSpPr txBox="1"/>
          <p:nvPr/>
        </p:nvSpPr>
        <p:spPr>
          <a:xfrm>
            <a:off x="457200" y="603504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595959"/>
                </a:solidFill>
              </a:rPr>
              <a:t>Source: model_outputs.xlsx, tab 'Case summary'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Case 3 — Major operating incident</a:t>
            </a:r>
          </a:p>
        </p:txBody>
      </p:sp>
      <p:sp>
        <p:nvSpPr>
          <p:cNvPr id="3" name="Tile Min operating DSCR"/>
          <p:cNvSpPr/>
          <p:nvPr/>
        </p:nvSpPr>
        <p:spPr>
          <a:xfrm>
            <a:off x="457200" y="1463040"/>
            <a:ext cx="1874519" cy="1188720"/>
          </a:xfrm>
          <a:prstGeom prst="roundRect">
            <a:avLst/>
          </a:prstGeom>
          <a:solidFill>
            <a:srgbClr val="E8EEF5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>
                <a:solidFill>
                  <a:srgbClr val="595959"/>
                </a:solidFill>
              </a:rPr>
              <a:t>Min operating DSCR</a:t>
            </a:r>
          </a:p>
          <a:p>
            <a:pPr algn="ctr"/>
            <a:r>
              <a:rPr sz="2200" b="1">
                <a:solidFill>
                  <a:srgbClr val="1F3A5F"/>
                </a:solidFill>
              </a:rPr>
              <a:t>-33.60x</a:t>
            </a:r>
          </a:p>
        </p:txBody>
      </p:sp>
      <p:sp>
        <p:nvSpPr>
          <p:cNvPr id="4" name="Tile Min post-cure DSCR"/>
          <p:cNvSpPr/>
          <p:nvPr/>
        </p:nvSpPr>
        <p:spPr>
          <a:xfrm>
            <a:off x="2514599" y="1463040"/>
            <a:ext cx="1874519" cy="1188720"/>
          </a:xfrm>
          <a:prstGeom prst="roundRect">
            <a:avLst/>
          </a:prstGeom>
          <a:solidFill>
            <a:srgbClr val="E8EEF5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>
                <a:solidFill>
                  <a:srgbClr val="595959"/>
                </a:solidFill>
              </a:rPr>
              <a:t>Min post-cure DSCR</a:t>
            </a:r>
          </a:p>
          <a:p>
            <a:pPr algn="ctr"/>
            <a:r>
              <a:rPr sz="2200" b="1">
                <a:solidFill>
                  <a:srgbClr val="1F3A5F"/>
                </a:solidFill>
              </a:rPr>
              <a:t>-33.10x</a:t>
            </a:r>
          </a:p>
        </p:txBody>
      </p:sp>
      <p:sp>
        <p:nvSpPr>
          <p:cNvPr id="5" name="Tile Sponsor support used"/>
          <p:cNvSpPr/>
          <p:nvPr/>
        </p:nvSpPr>
        <p:spPr>
          <a:xfrm>
            <a:off x="4571998" y="1463040"/>
            <a:ext cx="1874519" cy="1188720"/>
          </a:xfrm>
          <a:prstGeom prst="roundRect">
            <a:avLst/>
          </a:prstGeom>
          <a:solidFill>
            <a:srgbClr val="E8EEF5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>
                <a:solidFill>
                  <a:srgbClr val="595959"/>
                </a:solidFill>
              </a:rPr>
              <a:t>Sponsor support used</a:t>
            </a:r>
          </a:p>
          <a:p>
            <a:pPr algn="ctr"/>
            <a:r>
              <a:rPr sz="2200" b="1">
                <a:solidFill>
                  <a:srgbClr val="1F3A5F"/>
                </a:solidFill>
              </a:rPr>
              <a:t>USD 1,000k</a:t>
            </a:r>
          </a:p>
        </p:txBody>
      </p:sp>
      <p:sp>
        <p:nvSpPr>
          <p:cNvPr id="6" name="Tile Sponsor IRR"/>
          <p:cNvSpPr/>
          <p:nvPr/>
        </p:nvSpPr>
        <p:spPr>
          <a:xfrm>
            <a:off x="6629397" y="1463040"/>
            <a:ext cx="1874519" cy="1188720"/>
          </a:xfrm>
          <a:prstGeom prst="roundRect">
            <a:avLst/>
          </a:prstGeom>
          <a:solidFill>
            <a:srgbClr val="E8EEF5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>
                <a:solidFill>
                  <a:srgbClr val="595959"/>
                </a:solidFill>
              </a:rPr>
              <a:t>Sponsor IRR</a:t>
            </a:r>
          </a:p>
          <a:p>
            <a:pPr algn="ctr"/>
            <a:r>
              <a:rPr sz="2200" b="1">
                <a:solidFill>
                  <a:srgbClr val="1F3A5F"/>
                </a:solidFill>
              </a:rPr>
              <a:t>n/a (unfunded)</a:t>
            </a:r>
          </a:p>
        </p:txBody>
      </p:sp>
      <p:graphicFrame>
        <p:nvGraphicFramePr>
          <p:cNvPr id="7" name="Metrics table"/>
          <p:cNvGraphicFramePr>
            <a:graphicFrameLocks noGrp="1"/>
          </p:cNvGraphicFramePr>
          <p:nvPr/>
        </p:nvGraphicFramePr>
        <p:xfrm>
          <a:off x="457200" y="3017520"/>
          <a:ext cx="822960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29200"/>
                <a:gridCol w="3200400"/>
              </a:tblGrid>
              <a:tr h="365760">
                <a:tc>
                  <a:txBody>
                    <a:bodyPr/>
                    <a:lstStyle/>
                    <a:p>
                      <a:r>
                        <a:rPr sz="1200" b="1"/>
                        <a:t>Metric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/>
                        <a:t>Value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/>
                        <a:t>Total service receipts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USD 59.4m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/>
                        <a:t>Total debt service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USD 16.4m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/>
                        <a:t>Closing cash, 31 Dec 2031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USD -8.5m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8" name="Source note"/>
          <p:cNvSpPr txBox="1"/>
          <p:nvPr/>
        </p:nvSpPr>
        <p:spPr>
          <a:xfrm>
            <a:off x="457200" y="603504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595959"/>
                </a:solidFill>
              </a:rPr>
              <a:t>Source: model_outputs.xlsx, tab 'Case summary'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Financing and covenant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rPr sz="1800"/>
              <a:t>Facility terms, covenant performance and sponsor support across the presented cases.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Covenant: monthly DSCR and sponsor support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800"/>
              <a:t>Minimum monthly cash DSCR of 1.25x, tested from forecast month 3 in each month with debt service.</a:t>
            </a:r>
          </a:p>
          <a:p>
            <a:pPr/>
            <a:r>
              <a:rPr sz="1800"/>
              <a:t>Sponsor support: USD 250k monthly cap and USD 1.0m lifetime cap; the covenant portion counts as a current-month equity cure.</a:t>
            </a:r>
          </a:p>
          <a:p>
            <a:pPr/>
            <a:r>
              <a:rPr sz="1800"/>
              <a:t>Base case minimum operating DSCR 1.31x. Delayed receipt falls to 0.62x in the delayed month and is cured to 1.25x.</a:t>
            </a:r>
          </a:p>
          <a:p>
            <a:pPr/>
            <a:r>
              <a:rPr sz="1800"/>
              <a:t>Operating incident: the covenant breach is unresolved once the lifetime cap is exhausted.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Funding: sources and uses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800"/>
              <a:t>Uses: new hardware USD 20.0m, paid on signing on 1 January 2028.</a:t>
            </a:r>
          </a:p>
          <a:p>
            <a:pPr/>
            <a:r>
              <a:rPr sz="1800"/>
              <a:t>Sources: lender advance USD 14.0m (70%) and sponsor hardware equity USD 6.0m (30%), both on 1 January 2028.</a:t>
            </a:r>
          </a:p>
          <a:p>
            <a:pPr/>
            <a:r>
              <a:rPr sz="1800"/>
              <a:t>Customer advance of USD 10.8m (30% of initial fixed consideration) is unrestricted operating cash and is excluded from the covenant numerator at receipt.</a:t>
            </a:r>
          </a:p>
          <a:p>
            <a:pPr/>
            <a:r>
              <a:rPr sz="1800"/>
              <a:t>Debt: 10% annual cash interest, 36 equal principal instalments from month 3, USD 15k quarter-end agent fee.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Recommendation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800"/>
              <a:t>Proceed with the hardware financing under the signed terms and the base-case credit designation.</a:t>
            </a:r>
          </a:p>
          <a:p>
            <a:pPr/>
            <a:r>
              <a:rPr sz="1800"/>
              <a:t>Retain the committed sponsor support of USD 1.0m for the delayed-receipt case.</a:t>
            </a:r>
          </a:p>
          <a:p>
            <a:pPr/>
            <a:r>
              <a:rPr sz="1800"/>
              <a:t>Do not present the operating-incident case as an achievable sponsor return; its shortfall is unfunded.</a:t>
            </a:r>
          </a:p>
          <a:p>
            <a:pPr/>
            <a:r>
              <a:rPr sz="1800"/>
              <a:t>Confirm the renewal credit-transfer position with Helix Research before the renewal is signed.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Closing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800"/>
              <a:t>Decisions requested: approve the financing; approve the support commitment; note the incident-case exposure.</a:t>
            </a:r>
          </a:p>
          <a:p>
            <a:pPr/>
            <a:r>
              <a:rPr sz="1800"/>
              <a:t>Next steps: lender confirmation of the covenant definitions; renewal clause confirmation with Helix Research.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Appendix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rPr sz="1800"/>
              <a:t>Supporting schedules drawn from model_outputs.xlsx.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Appendix: DSCR summary</a:t>
            </a:r>
          </a:p>
        </p:txBody>
      </p:sp>
      <p:graphicFrame>
        <p:nvGraphicFramePr>
          <p:cNvPr id="3" name="Metrics table"/>
          <p:cNvGraphicFramePr>
            <a:graphicFrameLocks noGrp="1"/>
          </p:cNvGraphicFramePr>
          <p:nvPr/>
        </p:nvGraphicFramePr>
        <p:xfrm>
          <a:off x="457200" y="1463040"/>
          <a:ext cx="822960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1828800"/>
                <a:gridCol w="1828800"/>
                <a:gridCol w="1828800"/>
              </a:tblGrid>
              <a:tr h="475488">
                <a:tc>
                  <a:txBody>
                    <a:bodyPr/>
                    <a:lstStyle/>
                    <a:p>
                      <a:r>
                        <a:rPr sz="1200" b="1"/>
                        <a:t>Case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/>
                        <a:t>Min operating DSCR (x)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/>
                        <a:t>Min post-cure DSCR (x)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/>
                        <a:t>Months below 1.25x after cure</a:t>
                      </a:r>
                    </a:p>
                  </a:txBody>
                  <a:tcPr/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200" b="0"/>
                        <a:t>Base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1.31x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1.31x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0</a:t>
                      </a:r>
                    </a:p>
                  </a:txBody>
                  <a:tcPr/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200" b="0"/>
                        <a:t>Delayed usage receipt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0.62x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1.25x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0</a:t>
                      </a:r>
                    </a:p>
                  </a:txBody>
                  <a:tcPr/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200" b="0"/>
                        <a:t>Major operating incident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-33.60x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-33.10x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1</a:t>
                      </a:r>
                    </a:p>
                  </a:txBody>
                  <a:tcPr/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200" b="0"/>
                        <a:t>Renewal without credit transfer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1.18x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1.25x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0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Source note"/>
          <p:cNvSpPr txBox="1"/>
          <p:nvPr/>
        </p:nvSpPr>
        <p:spPr>
          <a:xfrm>
            <a:off x="457200" y="603504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595959"/>
                </a:solidFill>
              </a:rPr>
              <a:t>Source: model_outputs.xlsx, tab 'DSCR summary'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Appendix: Sponsor return</a:t>
            </a:r>
          </a:p>
        </p:txBody>
      </p:sp>
      <p:graphicFrame>
        <p:nvGraphicFramePr>
          <p:cNvPr id="3" name="Metrics table"/>
          <p:cNvGraphicFramePr>
            <a:graphicFrameLocks noGrp="1"/>
          </p:cNvGraphicFramePr>
          <p:nvPr/>
        </p:nvGraphicFramePr>
        <p:xfrm>
          <a:off x="457200" y="1463040"/>
          <a:ext cx="822960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1828800"/>
                <a:gridCol w="1828800"/>
                <a:gridCol w="1828800"/>
              </a:tblGrid>
              <a:tr h="475488">
                <a:tc>
                  <a:txBody>
                    <a:bodyPr/>
                    <a:lstStyle/>
                    <a:p>
                      <a:r>
                        <a:rPr sz="1200" b="1"/>
                        <a:t>Case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/>
                        <a:t>Equity invested (USD k)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/>
                        <a:t>Distribution 31 Dec 2031 (USD k)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/>
                        <a:t>Sponsor IRR (%)</a:t>
                      </a:r>
                    </a:p>
                  </a:txBody>
                  <a:tcPr/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200" b="0"/>
                        <a:t>Base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7,560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11,920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12.1%</a:t>
                      </a:r>
                    </a:p>
                  </a:txBody>
                  <a:tcPr/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200" b="0"/>
                        <a:t>Delayed usage receipt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7,880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11,960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11.0%</a:t>
                      </a:r>
                    </a:p>
                  </a:txBody>
                  <a:tcPr/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200" b="0"/>
                        <a:t>Major operating incident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8,560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n/a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n/a (unfunded)</a:t>
                      </a:r>
                    </a:p>
                  </a:txBody>
                  <a:tcPr/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200" b="0"/>
                        <a:t>Renewal without credit transfer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7,970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11,850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10.4%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Source note"/>
          <p:cNvSpPr txBox="1"/>
          <p:nvPr/>
        </p:nvSpPr>
        <p:spPr>
          <a:xfrm>
            <a:off x="457200" y="603504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595959"/>
                </a:solidFill>
              </a:rPr>
              <a:t>Source: model_outputs.xlsx, tab 'Sponsor return'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Layout reference: Case card</a:t>
            </a:r>
          </a:p>
        </p:txBody>
      </p:sp>
      <p:sp>
        <p:nvSpPr>
          <p:cNvPr id="3" name="Tile Min operating DSCR"/>
          <p:cNvSpPr/>
          <p:nvPr/>
        </p:nvSpPr>
        <p:spPr>
          <a:xfrm>
            <a:off x="457200" y="1463040"/>
            <a:ext cx="1874519" cy="1188720"/>
          </a:xfrm>
          <a:prstGeom prst="roundRect">
            <a:avLst/>
          </a:prstGeom>
          <a:solidFill>
            <a:srgbClr val="E8EEF5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>
                <a:solidFill>
                  <a:srgbClr val="595959"/>
                </a:solidFill>
              </a:rPr>
              <a:t>Min operating DSCR</a:t>
            </a:r>
          </a:p>
          <a:p>
            <a:pPr algn="ctr"/>
            <a:r>
              <a:rPr sz="2200" b="1">
                <a:solidFill>
                  <a:srgbClr val="1F3A5F"/>
                </a:solidFill>
              </a:rPr>
              <a:t>[Fill]</a:t>
            </a:r>
          </a:p>
        </p:txBody>
      </p:sp>
      <p:sp>
        <p:nvSpPr>
          <p:cNvPr id="4" name="Tile Min post-cure DSCR"/>
          <p:cNvSpPr/>
          <p:nvPr/>
        </p:nvSpPr>
        <p:spPr>
          <a:xfrm>
            <a:off x="2514599" y="1463040"/>
            <a:ext cx="1874519" cy="1188720"/>
          </a:xfrm>
          <a:prstGeom prst="roundRect">
            <a:avLst/>
          </a:prstGeom>
          <a:solidFill>
            <a:srgbClr val="E8EEF5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>
                <a:solidFill>
                  <a:srgbClr val="595959"/>
                </a:solidFill>
              </a:rPr>
              <a:t>Min post-cure DSCR</a:t>
            </a:r>
          </a:p>
          <a:p>
            <a:pPr algn="ctr"/>
            <a:r>
              <a:rPr sz="2200" b="1">
                <a:solidFill>
                  <a:srgbClr val="1F3A5F"/>
                </a:solidFill>
              </a:rPr>
              <a:t>[Fill]</a:t>
            </a:r>
          </a:p>
        </p:txBody>
      </p:sp>
      <p:sp>
        <p:nvSpPr>
          <p:cNvPr id="5" name="Tile Sponsor support used"/>
          <p:cNvSpPr/>
          <p:nvPr/>
        </p:nvSpPr>
        <p:spPr>
          <a:xfrm>
            <a:off x="4571998" y="1463040"/>
            <a:ext cx="1874519" cy="1188720"/>
          </a:xfrm>
          <a:prstGeom prst="roundRect">
            <a:avLst/>
          </a:prstGeom>
          <a:solidFill>
            <a:srgbClr val="E8EEF5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>
                <a:solidFill>
                  <a:srgbClr val="595959"/>
                </a:solidFill>
              </a:rPr>
              <a:t>Sponsor support used</a:t>
            </a:r>
          </a:p>
          <a:p>
            <a:pPr algn="ctr"/>
            <a:r>
              <a:rPr sz="2200" b="1">
                <a:solidFill>
                  <a:srgbClr val="1F3A5F"/>
                </a:solidFill>
              </a:rPr>
              <a:t>[Fill]</a:t>
            </a:r>
          </a:p>
        </p:txBody>
      </p:sp>
      <p:sp>
        <p:nvSpPr>
          <p:cNvPr id="6" name="Tile Sponsor IRR"/>
          <p:cNvSpPr/>
          <p:nvPr/>
        </p:nvSpPr>
        <p:spPr>
          <a:xfrm>
            <a:off x="6629397" y="1463040"/>
            <a:ext cx="1874519" cy="1188720"/>
          </a:xfrm>
          <a:prstGeom prst="roundRect">
            <a:avLst/>
          </a:prstGeom>
          <a:solidFill>
            <a:srgbClr val="E8EEF5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>
                <a:solidFill>
                  <a:srgbClr val="595959"/>
                </a:solidFill>
              </a:rPr>
              <a:t>Sponsor IRR</a:t>
            </a:r>
          </a:p>
          <a:p>
            <a:pPr algn="ctr"/>
            <a:r>
              <a:rPr sz="2200" b="1">
                <a:solidFill>
                  <a:srgbClr val="1F3A5F"/>
                </a:solidFill>
              </a:rPr>
              <a:t>[Fill]</a:t>
            </a:r>
          </a:p>
        </p:txBody>
      </p:sp>
      <p:graphicFrame>
        <p:nvGraphicFramePr>
          <p:cNvPr id="7" name="Metrics table"/>
          <p:cNvGraphicFramePr>
            <a:graphicFrameLocks noGrp="1"/>
          </p:cNvGraphicFramePr>
          <p:nvPr/>
        </p:nvGraphicFramePr>
        <p:xfrm>
          <a:off x="457200" y="3017520"/>
          <a:ext cx="822960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29200"/>
                <a:gridCol w="3200400"/>
              </a:tblGrid>
              <a:tr h="365760">
                <a:tc>
                  <a:txBody>
                    <a:bodyPr/>
                    <a:lstStyle/>
                    <a:p>
                      <a:r>
                        <a:rPr sz="1200" b="1"/>
                        <a:t>Metric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/>
                        <a:t>Value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/>
                        <a:t>Total service receipts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[Fill]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/>
                        <a:t>Total debt service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[Fill]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/>
                        <a:t>Closing cash, 31 Dec 2031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[Fill]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8" name="Source note"/>
          <p:cNvSpPr txBox="1"/>
          <p:nvPr/>
        </p:nvSpPr>
        <p:spPr>
          <a:xfrm>
            <a:off x="457200" y="603504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595959"/>
                </a:solidFill>
              </a:rPr>
              <a:t>Reference slide. Duplicate this layout for new case slides. Do not edit this slide.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