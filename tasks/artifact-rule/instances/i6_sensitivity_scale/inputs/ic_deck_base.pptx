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 common to every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ranked by covenant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dates for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eight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6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7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8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summary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cap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Debt service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cash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tests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Equity cure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Executive summary</a:t>
            </a:r>
          </a:p>
          <a:p>
            <a:pPr/>
            <a:r>
              <a:rPr sz="1400"/>
              <a:t>2. Key assumptions and risks</a:t>
            </a:r>
          </a:p>
          <a:p>
            <a:pPr/>
            <a:r>
              <a:rPr sz="1400"/>
              <a:t>3. Transaction timeline</a:t>
            </a:r>
          </a:p>
          <a:p>
            <a:pPr/>
            <a:r>
              <a:rPr sz="1400"/>
              <a:t>4. Cases</a:t>
            </a:r>
          </a:p>
          <a:p>
            <a:pPr lvl="1"/>
            <a:r>
              <a:rPr sz="1200"/>
              <a:t>Case 1 — Base</a:t>
            </a:r>
          </a:p>
          <a:p>
            <a:pPr lvl="1"/>
            <a:r>
              <a:rPr sz="1200"/>
              <a:t>Case 2 — Delayed usage receipt</a:t>
            </a:r>
          </a:p>
          <a:p>
            <a:pPr lvl="1"/>
            <a:r>
              <a:rPr sz="1200"/>
              <a:t>Case 3 — Major operating incident</a:t>
            </a:r>
          </a:p>
          <a:p>
            <a:pPr lvl="1"/>
            <a:r>
              <a:rPr sz="1200"/>
              <a:t>Case 4 — Renewal without credit transfer</a:t>
            </a:r>
          </a:p>
          <a:p>
            <a:pPr lvl="1"/>
            <a:r>
              <a:rPr sz="1200"/>
              <a:t>Case 5 — Early renewal at reduced rate</a:t>
            </a:r>
          </a:p>
          <a:p>
            <a:pPr lvl="1"/>
            <a:r>
              <a:rPr sz="1200"/>
              <a:t>Case 6 — Hardware refresh deferred</a:t>
            </a:r>
          </a:p>
          <a:p>
            <a:pPr lvl="1"/>
            <a:r>
              <a:rPr sz="1200"/>
              <a:t>Case 7 — Interest rate plus 200bp</a:t>
            </a:r>
          </a:p>
          <a:p>
            <a:pPr lvl="1"/>
            <a:r>
              <a:rPr sz="1200"/>
              <a:t>Case 8 — Customer payment term extension</a:t>
            </a:r>
          </a:p>
          <a:p>
            <a:pPr/>
            <a:r>
              <a:rPr sz="1400"/>
              <a:t>5. Financing and covenant</a:t>
            </a:r>
          </a:p>
          <a:p>
            <a:pPr/>
            <a:r>
              <a:rPr sz="1400"/>
              <a:t>6. Recommendation</a:t>
            </a:r>
          </a:p>
          <a:p>
            <a:pPr/>
            <a:r>
              <a:rPr sz="1400"/>
              <a:t>7. Closing</a:t>
            </a:r>
          </a:p>
          <a:p>
            <a:pPr/>
            <a:r>
              <a:rPr sz="14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Anchor contract: Helix Research, 36 months from 1 January 2028, fixed consideration USD 36.0m.</a:t>
            </a:r>
          </a:p>
          <a:p>
            <a:pPr/>
            <a:r>
              <a:rPr sz="1800"/>
              <a:t>Usage receipts: metered monthly, invoiced in arrears, 30-day terms.</a:t>
            </a:r>
          </a:p>
          <a:p>
            <a:pPr/>
            <a:r>
              <a:rPr sz="1800"/>
              <a:t>Hardware: USD 20.0m purchased on signing; refresh assumed at month 30 unless deferred.</a:t>
            </a:r>
          </a:p>
          <a:p>
            <a:pPr/>
            <a:r>
              <a:rPr sz="1800"/>
              <a:t>Financing: USD 14.0m lender advance at 10% cash interest, 36 equal principal instalments from month 3.</a:t>
            </a:r>
          </a:p>
          <a:p>
            <a:pPr/>
            <a:r>
              <a:rPr sz="1800"/>
              <a:t>Sponsor support: USD 250k monthly cap and USD 1.0m lifetime cap, counted as an equity cure.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Usage shortfall or late usage receipts tighten the monthly DSCR in the affected months.</a:t>
            </a:r>
          </a:p>
          <a:p>
            <a:pPr/>
            <a:r>
              <a:rPr sz="1800"/>
              <a:t>An operating incident exceeding the support cap leaves an unresolved covenant breach.</a:t>
            </a:r>
          </a:p>
          <a:p>
            <a:pPr/>
            <a:r>
              <a:rPr sz="1800"/>
              <a:t>Renewal without credit transfer lowers receipts from month 37 onward.</a:t>
            </a:r>
          </a:p>
          <a:p>
            <a:pPr/>
            <a:r>
              <a:rPr sz="1800"/>
              <a:t>A 200bp rise in the interest rate raises debt service by about USD 0.7m over the term.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Signing and funding: 1 January 2028.</a:t>
            </a:r>
          </a:p>
          <a:p>
            <a:pPr/>
            <a:r>
              <a:rPr sz="1800"/>
              <a:t>First covenant test: forecast month 3 (March 2028).</a:t>
            </a:r>
          </a:p>
          <a:p>
            <a:pPr/>
            <a:r>
              <a:rPr sz="1800"/>
              <a:t>Hardware refresh decision: month 30 (June 2030).</a:t>
            </a:r>
          </a:p>
          <a:p>
            <a:pPr/>
            <a:r>
              <a:rPr sz="1800"/>
              <a:t>Renewal decision with Helix Research: month 34 (October 2030).</a:t>
            </a:r>
          </a:p>
          <a:p>
            <a:pPr/>
            <a:r>
              <a:rPr sz="1800"/>
              <a:t>Final principal instalment and model horizon: 31 December 2031.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 — Renewal without credit transfer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1.18x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410k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10.4%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 — Early renewal at reduced rate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6 — Hardware refresh deferred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11.8%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7 — Interest rate plus 200bp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90k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11.3%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8 — Customer payment term extension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0.84x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180k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11.6%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0.84x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Support cap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 monthly draw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support used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cap utilisation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'Support cap'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11.8%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11.3%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Debt service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interest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principal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Agent fees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'Debt service'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Closing cash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Minimum cash balance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 of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Closing cash 31 Dec 2031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'Closing cash'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Receipts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Fixed consideration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Usage receipts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service receipts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21.1m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'Receipts'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Covenant tests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before 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'Covenant tests'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Equity cure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amount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Remaining lifetime cap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910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'Equity cure'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